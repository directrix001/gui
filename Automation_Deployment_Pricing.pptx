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Est. monthly cost (USD)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&quot;$&quot;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Power Apps
(25 users)</c:v>
                  </c:pt>
                  <c:pt idx="1">
                    <c:v>Power BI + Gateway
(10 users)</c:v>
                  </c:pt>
                  <c:pt idx="2">
                    <c:v>AWS Full-Stack
(small prod)</c:v>
                  </c:pt>
                  <c:pt idx="3">
                    <c:v>Lambda + S3
(light use)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500</c:v>
                </c:pt>
                <c:pt idx="1">
                  <c:v>240</c:v>
                </c:pt>
                <c:pt idx="2">
                  <c:v>140</c:v>
                </c:pt>
                <c:pt idx="3">
                  <c:v>3</c:v>
                </c:pt>
              </c:numCache>
            </c:numRef>
          </c:val>
        </c:ser>
        <c:dLbls>
          <c:numFmt formatCode="&quot;$&quot;#,##0" sourceLinked="0"/>
          <c:txPr>
            <a:bodyPr/>
            <a:lstStyle/>
            <a:p>
              <a:pPr>
                <a:defRPr b="1" i="0" strike="noStrike" sz="13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8F2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B8C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B6B8C"/>
                    </a:solidFill>
                    <a:latin typeface="Arial"/>
                  </a:rPr>
                  <a:t>USD / month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9784080" y="-1463040"/>
            <a:ext cx="4572000" cy="4572000"/>
          </a:xfrm>
          <a:prstGeom prst="ellipse">
            <a:avLst/>
          </a:prstGeom>
          <a:solidFill>
            <a:srgbClr val="161C4A"/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846320"/>
            <a:ext cx="3840480" cy="3840480"/>
          </a:xfrm>
          <a:prstGeom prst="ellipse">
            <a:avLst/>
          </a:prstGeom>
          <a:solidFill>
            <a:srgbClr val="161C4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3317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AUTOMATION DEPLOYMENT &amp; PRICING PLAYBOOK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333756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Classifying automation projects by platform, effort &amp; AWS/Power Platform cost — from citizen-developer apps to full-stack agentic systems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89204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48920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5760" y="5532120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Apps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474720" y="489204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48920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017520" y="5532120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+ SAP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0" y="489204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48920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669280" y="5532120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Full-Stack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778240" y="489204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8778240" y="48920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321040" y="5532120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+ S3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22960" y="62636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FP&amp;A / Agentic AI Automation Program   |   Estimates as of July 2026, USD list pricing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the Right Deployment Model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classify automation asks into four delivery tiers, scaling platform and cost with the complexity of the use case.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36192"/>
            <a:ext cx="2487168" cy="434340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89888" y="1828800"/>
            <a:ext cx="621792" cy="62179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1389888" y="1828800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21792" y="2633472"/>
            <a:ext cx="215798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Apps / Power Platform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40080" y="3410712"/>
            <a:ext cx="212140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Citizen-developer forms, approvals &amp; simple workflow apps used by a defined set of business users.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5312664"/>
            <a:ext cx="2029968" cy="36576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5312664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COMPLEXITY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08960" y="1536192"/>
            <a:ext cx="2487168" cy="434340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041648" y="1828800"/>
            <a:ext cx="621792" cy="621792"/>
          </a:xfrm>
          <a:prstGeom prst="ellipse">
            <a:avLst/>
          </a:prstGeom>
          <a:solidFill>
            <a:srgbClr val="0F6E8C"/>
          </a:solidFill>
          <a:ln/>
        </p:spPr>
      </p:sp>
      <p:sp>
        <p:nvSpPr>
          <p:cNvPr id="13" name="Text 11"/>
          <p:cNvSpPr/>
          <p:nvPr/>
        </p:nvSpPr>
        <p:spPr>
          <a:xfrm>
            <a:off x="4041648" y="1828800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273552" y="2633472"/>
            <a:ext cx="215798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+ SAP / Gateway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291840" y="3410712"/>
            <a:ext cx="212140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&amp; FP&amp;A dashboards that must connect to SAP or other on-premises data sources.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37560" y="5312664"/>
            <a:ext cx="2029968" cy="365760"/>
          </a:xfrm>
          <a:prstGeom prst="roundRect">
            <a:avLst>
              <a:gd name="adj" fmla="val 50000"/>
            </a:avLst>
          </a:prstGeom>
          <a:solidFill>
            <a:srgbClr val="0F6E8C"/>
          </a:solidFill>
          <a:ln/>
        </p:spPr>
      </p:sp>
      <p:sp>
        <p:nvSpPr>
          <p:cNvPr id="17" name="Text 15"/>
          <p:cNvSpPr/>
          <p:nvPr/>
        </p:nvSpPr>
        <p:spPr>
          <a:xfrm>
            <a:off x="3337560" y="5312664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COMPLEXITY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760720" y="1536192"/>
            <a:ext cx="2487168" cy="434340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693408" y="1828800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6693408" y="1828800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925312" y="2633472"/>
            <a:ext cx="215798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+ FastAPI + PostgreSQL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5943600" y="3410712"/>
            <a:ext cx="212140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agentic AI, RAG or heavy-logic applications needing full control — hosted on AWS EC2.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989320" y="5312664"/>
            <a:ext cx="2029968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5989320" y="5312664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COMPLEXITY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412480" y="1536192"/>
            <a:ext cx="2487168" cy="434340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345168" y="1828800"/>
            <a:ext cx="621792" cy="621792"/>
          </a:xfrm>
          <a:prstGeom prst="ellipse">
            <a:avLst/>
          </a:prstGeom>
          <a:solidFill>
            <a:srgbClr val="02A896"/>
          </a:solidFill>
          <a:ln/>
        </p:spPr>
      </p:sp>
      <p:sp>
        <p:nvSpPr>
          <p:cNvPr id="27" name="Text 25"/>
          <p:cNvSpPr/>
          <p:nvPr/>
        </p:nvSpPr>
        <p:spPr>
          <a:xfrm>
            <a:off x="9345168" y="1828800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8577072" y="2633472"/>
            <a:ext cx="215798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 Lambda + S3 Trigger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8595360" y="3410712"/>
            <a:ext cx="212140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event-driven automations that fire when a file lands in S3 — no server to run or patch.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641080" y="5312664"/>
            <a:ext cx="2029968" cy="365760"/>
          </a:xfrm>
          <a:prstGeom prst="roundRect">
            <a:avLst>
              <a:gd name="adj" fmla="val 50000"/>
            </a:avLst>
          </a:prstGeom>
          <a:solidFill>
            <a:srgbClr val="02A896"/>
          </a:solidFill>
          <a:ln/>
        </p:spPr>
      </p:sp>
      <p:sp>
        <p:nvSpPr>
          <p:cNvPr id="31" name="Text 29"/>
          <p:cNvSpPr/>
          <p:nvPr/>
        </p:nvSpPr>
        <p:spPr>
          <a:xfrm>
            <a:off x="8641080" y="5312664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/ MINIMAL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Deployment &amp; Pricing Playbook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3657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Platform / Power Apps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97280" y="8686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citizen-developer forms, approvals, light workflow apps with a known internal user base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657600" cy="4480560"/>
          </a:xfrm>
          <a:prstGeom prst="roundRect">
            <a:avLst>
              <a:gd name="adj" fmla="val 20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62763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to use this tier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2103120"/>
            <a:ext cx="32004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Internal-facing app, small-to-medium user count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Dataverse, SharePoint or premium connectors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team can own / extend it (low-code)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need for custom UI frameworks or heavy compute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Approvals, trackers, intake forms, simple workflow apps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343400" y="14630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Estimated Licensing Cost</a:t>
            </a:r>
            <a:endParaRPr lang="en-US" sz="1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43400" y="1874520"/>
          <a:ext cx="7360920" cy="2560320"/>
        </p:xfrm>
        <a:graphic>
          <a:graphicData uri="http://schemas.openxmlformats.org/drawingml/2006/table">
            <a:tbl>
              <a:tblPr/>
              <a:tblGrid>
                <a:gridCol w="2788920"/>
                <a:gridCol w="2011680"/>
                <a:gridCol w="25603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License / Item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Apps Premium (per user)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 / user / month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Unlimited apps, Dataverse, premium connectors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 tier (2,000+ seats)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 / user / month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Enterprise-scale discount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Automate (Premium flows)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Included with Premium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connectors included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Platform Requests add-on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 / month per 10K extra calls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if daily API entitlement is exceeded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Builder credits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Included (base allotment)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 credits billed per consumption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4343400" y="4617720"/>
            <a:ext cx="7360920" cy="1188720"/>
          </a:xfrm>
          <a:prstGeom prst="roundRect">
            <a:avLst>
              <a:gd name="adj" fmla="val 6154"/>
            </a:avLst>
          </a:prstGeom>
          <a:solidFill>
            <a:srgbClr val="CADCFC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0" y="475488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Example scenario: </a:t>
            </a:r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</a:rPr>
              <a:t>25 named users on Power Apps Premium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72000" y="512064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$500 / month  ·  ≈ $6,000 / year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Deployment &amp; Pricing Playbook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0F6E8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+ SAP / On-Premises Gateway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97280" y="8686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executive &amp; FP&amp;A dashboards that must read from SAP, SQL Server or other on-prem sources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657600" cy="4480560"/>
          </a:xfrm>
          <a:prstGeom prst="roundRect">
            <a:avLst>
              <a:gd name="adj" fmla="val 2000"/>
            </a:avLst>
          </a:prstGeom>
          <a:solidFill>
            <a:srgbClr val="0F6E8C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62763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to use this tier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2103120"/>
            <a:ext cx="32004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6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Reporting-first use case (dashboards, KPIs)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6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 is SAP BW/HANA or on-prem SQL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6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 Gateway to bridge cloud ↔ on-prem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6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&gt; 1GB or needs XMLA endpoint → use PPU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6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 count is moderate (per-user licensing scales)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343400" y="14630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Estimated Licensing &amp; Infra Cost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43400" y="1874520"/>
          <a:ext cx="7360920" cy="2560320"/>
        </p:xfrm>
        <a:graphic>
          <a:graphicData uri="http://schemas.openxmlformats.org/drawingml/2006/table">
            <a:tbl>
              <a:tblPr/>
              <a:tblGrid>
                <a:gridCol w="2788920"/>
                <a:gridCol w="2011680"/>
                <a:gridCol w="25603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License / Item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8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BI Pro (author / viewer)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 / user / month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sharing &amp; collaboration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BI Premium Per User (PPU)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 / user / month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models, XMLA, deployment pipelines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On-premises Data Gateway (VM/server)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$70 – 150 / month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Azure VM or on-prem host; gateway s/w free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SAP BW / HANA connector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Included in Pro / PPU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Requires the on-prem gateway above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Gateway HA cluster (optional 2nd node)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≈ $70 – 150 / month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if high availability is required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4343400" y="4617720"/>
            <a:ext cx="7360920" cy="1188720"/>
          </a:xfrm>
          <a:prstGeom prst="roundRect">
            <a:avLst>
              <a:gd name="adj" fmla="val 6154"/>
            </a:avLst>
          </a:prstGeom>
          <a:solidFill>
            <a:srgbClr val="CADCFC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0" y="475488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Example scenario: </a:t>
            </a:r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</a:rPr>
              <a:t>10 Pro users + 1 gateway VM for SAP connectivity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72000" y="512064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6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$240 / month  ·  ≈ $2,880 / year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Deployment &amp; Pricing Playbook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+ FastAPI + PostgreSQL on AWS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97280" y="8686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custom agentic AI / RAG apps and heavy-logic systems that need full architectural control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5B6B8C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82880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/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0" y="1828800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0" y="1828800"/>
            <a:ext cx="1965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53 + ALB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(HTTPS)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74920" y="1828800"/>
            <a:ext cx="2148840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074920" y="182880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FastAPI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589520" y="1828800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7589520" y="1828800"/>
            <a:ext cx="1965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921240" y="1828800"/>
            <a:ext cx="1737360" cy="1005840"/>
          </a:xfrm>
          <a:prstGeom prst="roundRect">
            <a:avLst>
              <a:gd name="adj" fmla="val 7273"/>
            </a:avLst>
          </a:prstGeom>
          <a:solidFill>
            <a:srgbClr val="02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9921240" y="182880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(files/logs)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377440" y="2331720"/>
            <a:ext cx="365760" cy="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709160" y="2331720"/>
            <a:ext cx="365760" cy="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223760" y="2331720"/>
            <a:ext cx="365760" cy="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555480" y="2331720"/>
            <a:ext cx="365760" cy="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2743200" y="315468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— logs, metrics &amp; alarms across EC2 / RDS / ALB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3611880"/>
            <a:ext cx="112471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3794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to use this tier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31520" y="4251960"/>
            <a:ext cx="5212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AI, LangGraph/CrewAI or RAG pipelines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UI/UX beyond what low-code allows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for a dedicated database &amp; API layer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126480" y="4251960"/>
            <a:ext cx="53035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 across multiple systems (SAP, Nissan/ABB feeds)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owns full CI/CD, security and scaling decisions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Workloads too complex for Power Platform limits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Deployment &amp; Pricing Playbook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36576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 Cost Breakdown — Full-Stack Deployment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097280" y="8686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Single-region, single-AZ estimate — us-east-1, on-demand list pricing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6858000" cy="3977640"/>
        </p:xfrm>
        <a:graphic>
          <a:graphicData uri="http://schemas.openxmlformats.org/drawingml/2006/table">
            <a:tbl>
              <a:tblPr/>
              <a:tblGrid>
                <a:gridCol w="3017520"/>
                <a:gridCol w="2377440"/>
                <a:gridCol w="1463040"/>
              </a:tblGrid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Component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Est. Monthly Cost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EC2 app server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t3.medium (2 vCPU / 4 GB)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$30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RDS PostgreSQL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db.t3.medium, single-AZ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$52 – 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EBS / gp3 storage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– 50 GB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$3 – 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 Load Balancer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ALB + LCU usage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$16 – 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 (files, backups, logs)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50 GB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$2 – 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transfer out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50 GB / month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$5 – 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CloudWatch (logs &amp; metrics)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monitoring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$5 – 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Elastic IP + Route 53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domain, 1 hosted zone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$2 – 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543800" y="1417320"/>
            <a:ext cx="4160520" cy="1828800"/>
          </a:xfrm>
          <a:prstGeom prst="roundRect">
            <a:avLst>
              <a:gd name="adj" fmla="val 4000"/>
            </a:avLst>
          </a:prstGeom>
          <a:solidFill>
            <a:srgbClr val="CADCFC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0" y="16002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production (single AZ)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0" y="196596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$115 – 165 / month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7772400" y="26060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$1,400 – 2,000 / year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543800" y="3429000"/>
            <a:ext cx="4160520" cy="1965960"/>
          </a:xfrm>
          <a:prstGeom prst="roundRect">
            <a:avLst>
              <a:gd name="adj" fmla="val 3721"/>
            </a:avLst>
          </a:prstGeom>
          <a:solidFill>
            <a:srgbClr val="1E2761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0" y="36118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High-availability (Multi-AZ + NAT GW)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772400" y="397764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5A8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$300 – 450 / month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7772400" y="46177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$3,600 – 5,400 / year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772400" y="49834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once the app is business-critical or usage scales beyond a pilot.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57200" y="5532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Scale-up path: move EC2 to t3.large/m5.large and RDS to db.m5.large as concurrent users or data volume grow.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Deployment &amp; Pricing Playbook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02A89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 Lambda + S3 — Micro-Automations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97280" y="8686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small, sporadic, event-driven jobs that don't justify a running server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02A89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916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S3 bucket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169164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0" y="16916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event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Lambda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852160" y="169164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852160" y="16916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processes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(parse / transform)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0" y="169164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0F6E8C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0" y="16916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→ S3 / DB /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834640" y="2148840"/>
            <a:ext cx="365760" cy="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486400" y="2148840"/>
            <a:ext cx="365760" cy="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321040" y="2148840"/>
            <a:ext cx="365760" cy="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457200" y="29260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Estimated Cost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337560"/>
          <a:ext cx="6675120" cy="2286000"/>
        </p:xfrm>
        <a:graphic>
          <a:graphicData uri="http://schemas.openxmlformats.org/drawingml/2006/table">
            <a:tbl>
              <a:tblPr/>
              <a:tblGrid>
                <a:gridCol w="3200400"/>
                <a:gridCol w="3474720"/>
              </a:tblGrid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A89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A89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Lambda requests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$0.20 per 1M requests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Lambda compute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$0.0000166667 per GB-second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free tier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1M requests + 400,000 GB-seconds free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 storage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$0.023 per GB / month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 requests (PUT/GET)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$0.005 per 1,000 requests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7498080" y="2926080"/>
            <a:ext cx="4206240" cy="2697480"/>
          </a:xfrm>
          <a:prstGeom prst="roundRect">
            <a:avLst>
              <a:gd name="adj" fmla="val 2712"/>
            </a:avLst>
          </a:prstGeom>
          <a:solidFill>
            <a:srgbClr val="1E2761"/>
          </a:solidFill>
          <a:ln/>
        </p:spPr>
      </p:sp>
      <p:sp>
        <p:nvSpPr>
          <p:cNvPr id="20" name="Text 17"/>
          <p:cNvSpPr/>
          <p:nvPr/>
        </p:nvSpPr>
        <p:spPr>
          <a:xfrm>
            <a:off x="7726680" y="31089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light workload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7726680" y="34290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~1,000 runs/month · 512MB · ~10s each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726680" y="388620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5A8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 – 5 / month</a:t>
            </a:r>
            <a:endParaRPr lang="en-US" sz="2800" dirty="0"/>
          </a:p>
        </p:txBody>
      </p:sp>
      <p:sp>
        <p:nvSpPr>
          <p:cNvPr id="23" name="Text 20"/>
          <p:cNvSpPr/>
          <p:nvPr/>
        </p:nvSpPr>
        <p:spPr>
          <a:xfrm>
            <a:off x="7726680" y="457200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covered by the AWS free tier — cost only grows with invocation volume.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57200" y="58064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servers to patch or pay for when idle — scales to zero.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Deployment &amp; Pricing Playbook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Comparison Across Deployment Tiers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monthly cost for one illustrative scenario per tier (see prior slides for assumptions)</a:t>
            </a:r>
            <a:endParaRPr lang="en-US" sz="12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110642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26364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figures are illustrative list-price estimates and will vary with user counts, data volume and negotiated/EA pricing.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Deployment &amp; Pricing Playbook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Model Fits Your Project?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reference for classifying a new automation ask into the right delivery tier</a:t>
            </a:r>
            <a:endParaRPr lang="en-US" sz="1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47120" cy="4480560"/>
        </p:xfrm>
        <a:graphic>
          <a:graphicData uri="http://schemas.openxmlformats.org/drawingml/2006/table">
            <a:tbl>
              <a:tblPr/>
              <a:tblGrid>
                <a:gridCol w="7132320"/>
                <a:gridCol w="411480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Characteristic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Recommended Tier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internal form, approval or tracker owned by a business team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— Power Apps / Power Platform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Executive or FP&amp;A dashboard reading from SAP / on-prem systems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— Power BI + Gateway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agentic AI, RAG pipeline, or heavy business logic needing full control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— React + FastAPI + PostgreSQL (AWS)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One-off or infrequent job triggered by a file landing in S3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— AWS Lambda + S3 Trigger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to scale to many concurrent users with custom UX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— React + FastAPI + PostgreSQL (AWS)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premium connectors but minimal custom logic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— Power Apps / Power Platform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Deployment &amp; Pricing Playbook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463040"/>
            <a:ext cx="4572000" cy="4572000"/>
          </a:xfrm>
          <a:prstGeom prst="ellipse">
            <a:avLst/>
          </a:prstGeom>
          <a:solidFill>
            <a:srgbClr val="161C4A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846320"/>
            <a:ext cx="3840480" cy="3840480"/>
          </a:xfrm>
          <a:prstGeom prst="ellipse">
            <a:avLst/>
          </a:prstGeom>
          <a:solidFill>
            <a:srgbClr val="161C4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— Estimated Monthly Cost by Tier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25880"/>
          <a:ext cx="7680960" cy="2377440"/>
        </p:xfrm>
        <a:graphic>
          <a:graphicData uri="http://schemas.openxmlformats.org/drawingml/2006/table">
            <a:tbl>
              <a:tblPr/>
              <a:tblGrid>
                <a:gridCol w="4206240"/>
                <a:gridCol w="1737360"/>
                <a:gridCol w="17373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Est. Monthly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Est. Annual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— Power Apps (25 users)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$500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$6,000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4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— Power BI + Gateway (10 users)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$240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$2,880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4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— AWS Full-Stack (small prod)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$115 – 165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$1,400 – 2,000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4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— Lambda + S3 (light use)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$0 – 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$0 – 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4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686800" y="1325880"/>
            <a:ext cx="2926080" cy="2377440"/>
          </a:xfrm>
          <a:prstGeom prst="roundRect">
            <a:avLst>
              <a:gd name="adj" fmla="val 3077"/>
            </a:avLst>
          </a:prstGeom>
          <a:solidFill>
            <a:srgbClr val="028090"/>
          </a:solidFill>
          <a:ln/>
        </p:spPr>
      </p:sp>
      <p:sp>
        <p:nvSpPr>
          <p:cNvPr id="7" name="Text 4"/>
          <p:cNvSpPr/>
          <p:nvPr/>
        </p:nvSpPr>
        <p:spPr>
          <a:xfrm>
            <a:off x="8915400" y="15087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scale with: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915400" y="1874520"/>
            <a:ext cx="24688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seat count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volume &amp; refresh rate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High-availability needs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 / volume discounts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393192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figures are US list-price, on-demand estimates as of July 2026 — exclude tax, existing Microsoft/AWS enterprise agreements, implementation effort, and support labor. Validate against current pricing pages before budgeting.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" y="4754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A8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0080" y="516636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each pipeline / backlog item into one of the four tiers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expected user counts and data-source connectivity per project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Right-size AWS instances after a 2–3 month usage baseline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2026-07-27T11:31:41Z</dcterms:created>
  <dcterms:modified xsi:type="dcterms:W3CDTF">2026-07-27T11:31:41Z</dcterms:modified>
</cp:coreProperties>
</file>