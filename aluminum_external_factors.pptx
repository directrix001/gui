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41C2C"/>
                </a:solidFill>
                <a:latin typeface="Arial"/>
              </a:rPr>
              <a:t>External Factors Driving Aluminum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85216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6B75"/>
                </a:solidFill>
                <a:latin typeface="Arial"/>
              </a:rPr>
              <a:t>Aluminum is one of the most macro-sensitive metals: energy-intensive to make, globally traded, and heavily policy-exposed.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6048" y="2999232"/>
            <a:ext cx="2286000" cy="914400"/>
          </a:xfrm>
          <a:prstGeom prst="roundRect">
            <a:avLst/>
          </a:prstGeom>
          <a:solidFill>
            <a:srgbClr val="041C2C"/>
          </a:solidFill>
          <a:ln w="25400">
            <a:solidFill>
              <a:srgbClr val="FF5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ALUMINUM PRICE</a:t>
            </a:r>
          </a:p>
          <a:p>
            <a:pPr algn="ctr"/>
            <a:r>
              <a:rPr sz="850">
                <a:solidFill>
                  <a:srgbClr val="C9D3D9"/>
                </a:solidFill>
                <a:latin typeface="Arial"/>
              </a:rPr>
              <a:t>LME base + regional premium ($/lb)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SUPPLY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Smelter capacity + curtailments,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China output caps, alumina and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bauxite availability (Guinea, Australia).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Tight supply -&gt; price 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60219" y="2606040"/>
            <a:ext cx="3653029" cy="393192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7560" y="12344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DEMAND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Construction, autos and EVs,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packaging, aerospace, power grids.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China is ~55-60% of world demand.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Strong demand -&gt; price UP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32020" y="2606040"/>
            <a:ext cx="1138428" cy="393192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2344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ENERGY COSTS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Electricity is ~35-40% of smelting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cost. Power and gas spikes force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smelter shutdowns (EU 2021-22).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Energy up -&gt; price UP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327648" y="2606040"/>
            <a:ext cx="1376172" cy="393192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81160" y="12344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TARIFFS + TRADE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US Section 232 duties, EU CBAM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carbon border tax, anti-dumping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cases. Drive regional premiums.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Tariffs -&gt; local price UP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784848" y="2606040"/>
            <a:ext cx="3890772" cy="393192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48920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WAR + GEOPOLITICS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Russia sanctions (Rusal ~6% of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world supply), Red Sea shipping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disruption, resource nationalism.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Conflict -&gt; spikes + volatility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760219" y="3913631"/>
            <a:ext cx="3653029" cy="978409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48920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EXPORTS + CHINA POLICY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China export quotas, VAT rebate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changes, capacity swaps. Chinese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exports can flood or starve markets.</a:t>
            </a:r>
          </a:p>
          <a:p>
            <a:pPr algn="l"/>
            <a:r>
              <a:rPr sz="800" b="1">
                <a:solidFill>
                  <a:srgbClr val="0E7490"/>
                </a:solidFill>
                <a:latin typeface="Arial"/>
              </a:rPr>
              <a:t>More exports -&gt; price DOWN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732020" y="3913631"/>
            <a:ext cx="1138428" cy="978409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48920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US DOLLAR + RATES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Priced in USD worldwide. A strong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dollar and high interest rates make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metal costlier to hold and buy.</a:t>
            </a:r>
          </a:p>
          <a:p>
            <a:pPr algn="l"/>
            <a:r>
              <a:rPr sz="800" b="1">
                <a:solidFill>
                  <a:srgbClr val="0E7490"/>
                </a:solidFill>
                <a:latin typeface="Arial"/>
              </a:rPr>
              <a:t>Strong USD -&gt; price DOWN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327648" y="3913631"/>
            <a:ext cx="1376172" cy="978409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60" y="4892040"/>
            <a:ext cx="27889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27432"/>
          <a:lstStyle/>
          <a:p>
            <a:pPr algn="l"/>
            <a:r>
              <a:rPr sz="1150" b="1">
                <a:solidFill>
                  <a:srgbClr val="041C2C"/>
                </a:solidFill>
                <a:latin typeface="Arial"/>
              </a:rPr>
              <a:t>INVENTORIES + SPECULATION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LME/SHFE warehouse stocks,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fund positioning, freight rates and</a:t>
            </a:r>
          </a:p>
          <a:p>
            <a:pPr algn="l"/>
            <a:r>
              <a:rPr sz="830">
                <a:solidFill>
                  <a:srgbClr val="5B6B75"/>
                </a:solidFill>
                <a:latin typeface="Arial"/>
              </a:rPr>
              <a:t>port congestion feeding premiums.</a:t>
            </a:r>
          </a:p>
          <a:p>
            <a:pPr algn="l"/>
            <a:r>
              <a:rPr sz="800" b="1">
                <a:solidFill>
                  <a:srgbClr val="9B2C2C"/>
                </a:solidFill>
                <a:latin typeface="Arial"/>
              </a:rPr>
              <a:t>Low stocks -&gt; price UP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784848" y="3913631"/>
            <a:ext cx="3890772" cy="978409"/>
          </a:xfrm>
          <a:prstGeom prst="line">
            <a:avLst/>
          </a:prstGeom>
          <a:ln w="13970">
            <a:solidFill>
              <a:srgbClr val="C9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1">
                <a:solidFill>
                  <a:srgbClr val="5B6B75"/>
                </a:solidFill>
                <a:latin typeface="Arial"/>
              </a:rPr>
              <a:t>Rule of thumb: anything that tightens supply or raises the cost to make/move metal pushes prices UP; anything that adds supply or strengthens the dollar pushes prices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