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10" r:id="rId2"/>
    <p:sldId id="26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4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DD1EF-840E-5772-B662-1F7D99F3F0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0CF2A1-3A00-8F5C-AA3E-D8D8E9AF00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5293AB-8606-A9BF-BCD6-CF44A2A68DF2}"/>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01FC6426-6A31-378D-3E70-50DCED24D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28FDDE-6C7C-5BFC-A701-686864F8258F}"/>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58927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AF453-BD78-58C5-663C-A8A2BF0194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7425A2-D1F1-670D-C9F2-2884E79AE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9262B1-0A36-AFE3-2813-78EA9B1C22D4}"/>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9D55941-A959-E7A8-F5CF-6DF1B09F8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46C995-D1E2-DE16-1AEF-AF427C1558BF}"/>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2339097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8E4F-4B64-21A8-4E20-16F0A1EE4B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2490FC-B50A-7BF2-AD21-D558A619BC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39B3F5-9707-E932-44CF-4A0961C64F67}"/>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E2E9F0A-B536-EA4F-39F3-61B5AF121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D19BB-D583-17D5-F707-A418EADF2F2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865475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9D54-2F30-ACC5-CD75-5CD92B40EF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7B878-002E-733E-8C92-1C4C0EF0B7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22719D-D216-AC57-7106-AA8738AFF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25D374-BD67-82FB-1B01-B0183F1EA7BC}"/>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BDDED9FA-93B0-05FD-4F2D-7FE2D09171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9CDC18-C0AB-35F1-BBF1-83FA202F0FF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2240055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B5B8-3FA8-6964-8E29-7C71A314BE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850157-B724-7A6D-CF7F-60709167F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1315A0-AEAE-090C-7839-FFFB84736E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02D863-430D-3087-7955-6B95192828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1001F-35E0-4EF6-80D7-D259FF8F8E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921AB7-917C-1E40-2D40-249B07701B0D}"/>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8" name="Footer Placeholder 7">
            <a:extLst>
              <a:ext uri="{FF2B5EF4-FFF2-40B4-BE49-F238E27FC236}">
                <a16:creationId xmlns:a16="http://schemas.microsoft.com/office/drawing/2014/main" id="{72593931-C108-00B6-FA4C-B0D1A88777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66CD82-BF40-7C4C-8F95-F9628ABFFAC2}"/>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4210285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0CD9-4277-6B91-5BD9-B505C7353A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CDEAAA-1420-EAAD-5FAF-2068652C1132}"/>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4" name="Footer Placeholder 3">
            <a:extLst>
              <a:ext uri="{FF2B5EF4-FFF2-40B4-BE49-F238E27FC236}">
                <a16:creationId xmlns:a16="http://schemas.microsoft.com/office/drawing/2014/main" id="{33767A3C-7F36-E7B9-759A-AA04B3DEF5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9CDA6F-3BA7-830C-F7E9-419A3F4905FB}"/>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670576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1FA613-E7F8-3F7B-27B9-4C5EF87A39BE}"/>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3" name="Footer Placeholder 2">
            <a:extLst>
              <a:ext uri="{FF2B5EF4-FFF2-40B4-BE49-F238E27FC236}">
                <a16:creationId xmlns:a16="http://schemas.microsoft.com/office/drawing/2014/main" id="{CA008381-60A8-8F27-6EF4-B03E38803A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FBACBC-D33B-AAF9-FA3D-233E18927EB9}"/>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87962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5A625-6BBE-72FC-D329-E0350159B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AF5428-CE91-0D4A-8662-843FDA713C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6982F9-F511-3273-9BD3-8122389633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EB074-886E-CDDD-BA29-593B255BCC90}"/>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E80C7682-4457-E18B-C3CC-A93CB69C8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C2B530-5140-D9BE-FDA8-8F960F69E95E}"/>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423752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CDF0D-599D-ECDF-F6AB-45AEBE2C8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BEBECB-6CEC-383E-F3A5-573A6D268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292628-5DE9-9751-2DA1-ECF5E900D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417843-EA9E-CE81-36A1-B7027DD72477}"/>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6" name="Footer Placeholder 5">
            <a:extLst>
              <a:ext uri="{FF2B5EF4-FFF2-40B4-BE49-F238E27FC236}">
                <a16:creationId xmlns:a16="http://schemas.microsoft.com/office/drawing/2014/main" id="{A6F46F27-D631-40AC-076D-C3AD5F8085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C1BEA8-9740-9AC3-BA44-840D937E8437}"/>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36127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B716-E755-447A-CF33-DF706A0D0E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667FBF-0FC0-CF17-5A13-30CF166494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3E2264-028E-54B9-7F3E-B48970F097FC}"/>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0599429E-7AA7-2020-4131-88769B703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C826B-F466-92B5-BB1D-D8BC53D6828B}"/>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1107036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AAEB8E-9360-2ABD-23FB-021A1D0C25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3BFA8B-E76C-8669-4170-B2A3B89ADD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10A1E-8CDD-08C6-B77D-728DCAC1CB0B}"/>
              </a:ext>
            </a:extLst>
          </p:cNvPr>
          <p:cNvSpPr>
            <a:spLocks noGrp="1"/>
          </p:cNvSpPr>
          <p:nvPr>
            <p:ph type="dt" sz="half" idx="10"/>
          </p:nvPr>
        </p:nvSpPr>
        <p:spPr/>
        <p:txBody>
          <a:body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77B546BC-D6C4-ED25-D400-7B40D8A0E5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AB2B1-DF35-3281-C293-F8C4144426C3}"/>
              </a:ext>
            </a:extLst>
          </p:cNvPr>
          <p:cNvSpPr>
            <a:spLocks noGrp="1"/>
          </p:cNvSpPr>
          <p:nvPr>
            <p:ph type="sldNum" sz="quarter" idx="12"/>
          </p:nvPr>
        </p:nvSpPr>
        <p:spPr/>
        <p:txBody>
          <a:bodyPr/>
          <a:lstStyle/>
          <a:p>
            <a:fld id="{24B25F5B-32D7-49C2-AB15-7F2D8554D4D8}" type="slidenum">
              <a:rPr lang="en-US" smtClean="0"/>
              <a:t>‹#›</a:t>
            </a:fld>
            <a:endParaRPr lang="en-US"/>
          </a:p>
        </p:txBody>
      </p:sp>
    </p:spTree>
    <p:extLst>
      <p:ext uri="{BB962C8B-B14F-4D97-AF65-F5344CB8AC3E}">
        <p14:creationId xmlns:p14="http://schemas.microsoft.com/office/powerpoint/2010/main" val="3213752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メッセージライン">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F6E8ED3E-4F8A-4A41-AC47-4D4A6C710783}"/>
              </a:ext>
            </a:extLst>
          </p:cNvPr>
          <p:cNvSpPr>
            <a:spLocks noGrp="1"/>
          </p:cNvSpPr>
          <p:nvPr>
            <p:ph type="title"/>
          </p:nvPr>
        </p:nvSpPr>
        <p:spPr>
          <a:xfrm>
            <a:off x="502921" y="122239"/>
            <a:ext cx="9814561" cy="669925"/>
          </a:xfrm>
          <a:prstGeom prst="rect">
            <a:avLst/>
          </a:prstGeom>
        </p:spPr>
        <p:txBody>
          <a:bodyPr anchor="b"/>
          <a:lstStyle>
            <a:lvl1pPr algn="l">
              <a:defRPr sz="2400">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5" name="テキスト プレースホルダー 4">
            <a:extLst>
              <a:ext uri="{FF2B5EF4-FFF2-40B4-BE49-F238E27FC236}">
                <a16:creationId xmlns:a16="http://schemas.microsoft.com/office/drawing/2014/main" id="{96CCEA56-AF1C-4616-8BC6-386F78858CAD}"/>
              </a:ext>
            </a:extLst>
          </p:cNvPr>
          <p:cNvSpPr>
            <a:spLocks noGrp="1"/>
          </p:cNvSpPr>
          <p:nvPr>
            <p:ph type="body" sz="quarter" idx="10" hasCustomPrompt="1"/>
          </p:nvPr>
        </p:nvSpPr>
        <p:spPr>
          <a:xfrm>
            <a:off x="502920" y="854128"/>
            <a:ext cx="10429907" cy="524968"/>
          </a:xfrm>
          <a:prstGeom prst="rect">
            <a:avLst/>
          </a:prstGeom>
        </p:spPr>
        <p:txBody>
          <a:bodyPr/>
          <a:lstStyle>
            <a:lvl1pPr marL="0" indent="0">
              <a:buNone/>
              <a:defRPr sz="1600">
                <a:latin typeface="Meiryo UI" panose="020B0604030504040204" pitchFamily="50" charset="-128"/>
                <a:ea typeface="Meiryo UI" panose="020B0604030504040204" pitchFamily="50" charset="-128"/>
              </a:defRPr>
            </a:lvl1pPr>
          </a:lstStyle>
          <a:p>
            <a:pPr lvl="0"/>
            <a:r>
              <a:rPr kumimoji="1" lang="ja-JP" altLang="en-US"/>
              <a:t>テキスト</a:t>
            </a:r>
            <a:endParaRPr kumimoji="1" lang="en-GB"/>
          </a:p>
        </p:txBody>
      </p:sp>
    </p:spTree>
    <p:extLst>
      <p:ext uri="{BB962C8B-B14F-4D97-AF65-F5344CB8AC3E}">
        <p14:creationId xmlns:p14="http://schemas.microsoft.com/office/powerpoint/2010/main" val="19184382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C2578-F2E8-9999-5DE1-6D96C033E3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E13968-264E-FC08-4B6C-ED4DFF93FB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A24EA-2410-CC3D-60F8-DAFD90E1B3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FCCE18-F12A-44D2-B90F-2708373E38B6}" type="datetimeFigureOut">
              <a:rPr lang="en-US" smtClean="0"/>
              <a:t>8/10/2026</a:t>
            </a:fld>
            <a:endParaRPr lang="en-US"/>
          </a:p>
        </p:txBody>
      </p:sp>
      <p:sp>
        <p:nvSpPr>
          <p:cNvPr id="5" name="Footer Placeholder 4">
            <a:extLst>
              <a:ext uri="{FF2B5EF4-FFF2-40B4-BE49-F238E27FC236}">
                <a16:creationId xmlns:a16="http://schemas.microsoft.com/office/drawing/2014/main" id="{1F1EB611-B932-843E-D0B0-F57F713E0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E20F6F-D9F1-1AE8-C778-FE77772E5E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B25F5B-32D7-49C2-AB15-7F2D8554D4D8}" type="slidenum">
              <a:rPr lang="en-US" smtClean="0"/>
              <a:t>‹#›</a:t>
            </a:fld>
            <a:endParaRPr lang="en-US"/>
          </a:p>
        </p:txBody>
      </p:sp>
    </p:spTree>
    <p:extLst>
      <p:ext uri="{BB962C8B-B14F-4D97-AF65-F5344CB8AC3E}">
        <p14:creationId xmlns:p14="http://schemas.microsoft.com/office/powerpoint/2010/main" val="345082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B795-6C0F-8FE0-DA08-361CBC807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7FEEE-3998-0BC9-62D4-77396366F493}"/>
              </a:ext>
            </a:extLst>
          </p:cNvPr>
          <p:cNvSpPr>
            <a:spLocks noGrp="1"/>
          </p:cNvSpPr>
          <p:nvPr>
            <p:ph type="title"/>
          </p:nvPr>
        </p:nvSpPr>
        <p:spPr>
          <a:xfrm>
            <a:off x="502921" y="26760"/>
            <a:ext cx="9814561" cy="669925"/>
          </a:xfrm>
        </p:spPr>
        <p:txBody>
          <a:bodyPr/>
          <a:lstStyle/>
          <a:p>
            <a:r>
              <a:rPr lang="en-US" sz="2585" dirty="0">
                <a:latin typeface="NissanAG-Bold" pitchFamily="50" charset="0"/>
                <a:ea typeface="NissanAG-Bold" pitchFamily="50" charset="0"/>
                <a:cs typeface="Verdana" pitchFamily="34" charset="0"/>
              </a:rPr>
              <a:t>5. Sequence Diagram- Prod</a:t>
            </a:r>
            <a:endParaRPr lang="en-IN" sz="2585" dirty="0">
              <a:latin typeface="NissanAG-Bold" pitchFamily="50" charset="0"/>
              <a:ea typeface="NissanAG-Bold" pitchFamily="50" charset="0"/>
              <a:cs typeface="Verdana" pitchFamily="34" charset="0"/>
            </a:endParaRPr>
          </a:p>
        </p:txBody>
      </p:sp>
      <p:grpSp>
        <p:nvGrpSpPr>
          <p:cNvPr id="3" name="Group 2">
            <a:extLst>
              <a:ext uri="{FF2B5EF4-FFF2-40B4-BE49-F238E27FC236}">
                <a16:creationId xmlns:a16="http://schemas.microsoft.com/office/drawing/2014/main" id="{386114B5-BBAB-6241-6960-8935316419FE}"/>
              </a:ext>
            </a:extLst>
          </p:cNvPr>
          <p:cNvGrpSpPr/>
          <p:nvPr/>
        </p:nvGrpSpPr>
        <p:grpSpPr>
          <a:xfrm>
            <a:off x="12695273" y="0"/>
            <a:ext cx="3062177" cy="6858000"/>
            <a:chOff x="5986130" y="680484"/>
            <a:chExt cx="2562447" cy="4859079"/>
          </a:xfrm>
        </p:grpSpPr>
        <p:sp>
          <p:nvSpPr>
            <p:cNvPr id="5" name="Speech Bubble: Rectangle with Corners Rounded 4">
              <a:extLst>
                <a:ext uri="{FF2B5EF4-FFF2-40B4-BE49-F238E27FC236}">
                  <a16:creationId xmlns:a16="http://schemas.microsoft.com/office/drawing/2014/main" id="{D2078AD6-B22E-74A5-C694-E023C4764AFA}"/>
                </a:ext>
              </a:extLst>
            </p:cNvPr>
            <p:cNvSpPr/>
            <p:nvPr/>
          </p:nvSpPr>
          <p:spPr>
            <a:xfrm rot="5400000">
              <a:off x="4837814" y="1828800"/>
              <a:ext cx="4859079" cy="2562447"/>
            </a:xfrm>
            <a:prstGeom prst="wedgeRound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Nissan Pro Regular"/>
                <a:ea typeface="メイリオ"/>
                <a:cs typeface="+mn-cs"/>
              </a:endParaRPr>
            </a:p>
          </p:txBody>
        </p:sp>
        <p:sp>
          <p:nvSpPr>
            <p:cNvPr id="6" name="TextBox 5">
              <a:extLst>
                <a:ext uri="{FF2B5EF4-FFF2-40B4-BE49-F238E27FC236}">
                  <a16:creationId xmlns:a16="http://schemas.microsoft.com/office/drawing/2014/main" id="{7ADDE44A-0A36-BEF7-F326-B0ABD150E980}"/>
                </a:ext>
              </a:extLst>
            </p:cNvPr>
            <p:cNvSpPr txBox="1"/>
            <p:nvPr/>
          </p:nvSpPr>
          <p:spPr>
            <a:xfrm>
              <a:off x="6096000" y="887055"/>
              <a:ext cx="2271823" cy="379438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Nissan Pro Regular"/>
                  <a:ea typeface="メイリオ"/>
                  <a:cs typeface="+mn-cs"/>
                </a:rPr>
                <a:t>Use this space for your Sequence Diagram (refer to the example documents if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issan Pro Regular"/>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FFFF"/>
                  </a:solidFill>
                  <a:effectLst/>
                  <a:uLnTx/>
                  <a:uFillTx/>
                  <a:latin typeface="Nissan Pro Regular"/>
                  <a:ea typeface="メイリオ"/>
                  <a:cs typeface="+mn-cs"/>
                </a:rPr>
                <a:t>“A sequence diagram consists of a group of objects that are represented by lifelines, and the messages that they exchange over time during the interaction. A sequence diagram shows the sequence of messages passed between objects. Sequence diagrams can also show the control structures between objects.” - IBM</a:t>
              </a:r>
            </a:p>
          </p:txBody>
        </p:sp>
      </p:grpSp>
      <p:sp>
        <p:nvSpPr>
          <p:cNvPr id="7" name="TextBox 6">
            <a:extLst>
              <a:ext uri="{FF2B5EF4-FFF2-40B4-BE49-F238E27FC236}">
                <a16:creationId xmlns:a16="http://schemas.microsoft.com/office/drawing/2014/main" id="{D4D22ACE-7B62-D662-FF65-450E2899E912}"/>
              </a:ext>
            </a:extLst>
          </p:cNvPr>
          <p:cNvSpPr txBox="1"/>
          <p:nvPr/>
        </p:nvSpPr>
        <p:spPr>
          <a:xfrm>
            <a:off x="1284514" y="979714"/>
            <a:ext cx="9032968" cy="5478423"/>
          </a:xfrm>
          <a:prstGeom prst="rect">
            <a:avLst/>
          </a:prstGeom>
          <a:noFill/>
          <a:ln w="28575">
            <a:solidFill>
              <a:schemeClr val="tx1"/>
            </a:solidFill>
          </a:ln>
        </p:spPr>
        <p:txBody>
          <a:bodyPr wrap="square">
            <a:spAutoFit/>
          </a:bodyPr>
          <a:lstStyle/>
          <a:p>
            <a:r>
              <a:rPr lang="en-US" sz="1400" b="1" dirty="0">
                <a:solidFill>
                  <a:schemeClr val="tx2">
                    <a:lumMod val="75000"/>
                  </a:schemeClr>
                </a:solidFill>
              </a:rPr>
              <a:t>    </a:t>
            </a:r>
            <a:r>
              <a:rPr lang="en-US" sz="1200" b="1" dirty="0">
                <a:solidFill>
                  <a:schemeClr val="tx2">
                    <a:lumMod val="75000"/>
                  </a:schemeClr>
                </a:solidFill>
              </a:rPr>
              <a:t>     		</a:t>
            </a:r>
            <a:r>
              <a:rPr lang="en-US" sz="1400" b="1" dirty="0">
                <a:solidFill>
                  <a:schemeClr val="tx2">
                    <a:lumMod val="75000"/>
                  </a:schemeClr>
                </a:solidFill>
              </a:rPr>
              <a:t>  </a:t>
            </a:r>
            <a:r>
              <a:rPr lang="en-US" sz="1200" b="1" dirty="0">
                <a:solidFill>
                  <a:schemeClr val="tx2">
                    <a:lumMod val="75000"/>
                  </a:schemeClr>
                </a:solidFill>
              </a:rPr>
              <a:t>	</a:t>
            </a:r>
            <a:r>
              <a:rPr lang="en-US" sz="1400" b="1" dirty="0">
                <a:solidFill>
                  <a:schemeClr val="tx2">
                    <a:lumMod val="75000"/>
                  </a:schemeClr>
                </a:solidFill>
              </a:rPr>
              <a:t>  			       	</a:t>
            </a:r>
          </a:p>
          <a:p>
            <a:r>
              <a:rPr lang="en-US" sz="1400" b="1" dirty="0">
                <a:solidFill>
                  <a:schemeClr val="tx2">
                    <a:lumMod val="75000"/>
                  </a:schemeClr>
                </a:solidFill>
              </a:rPr>
              <a:t>	</a:t>
            </a:r>
          </a:p>
          <a:p>
            <a:endParaRPr lang="en-US" sz="1200" b="1" dirty="0">
              <a:solidFill>
                <a:schemeClr val="tx2">
                  <a:lumMod val="75000"/>
                </a:schemeClr>
              </a:solidFill>
            </a:endParaRPr>
          </a:p>
          <a:p>
            <a:r>
              <a:rPr lang="en-US" sz="1200" b="1" dirty="0">
                <a:solidFill>
                  <a:schemeClr val="tx2">
                    <a:lumMod val="75000"/>
                  </a:schemeClr>
                </a:solidFill>
              </a:rPr>
              <a:t> </a:t>
            </a:r>
            <a:r>
              <a:rPr lang="en-US" sz="1200" b="1" dirty="0">
                <a:solidFill>
                  <a:schemeClr val="bg2">
                    <a:lumMod val="50000"/>
                  </a:schemeClr>
                </a:solidFill>
              </a:rPr>
              <a:t>|               		 |                  		  |        		|           		    |</a:t>
            </a:r>
          </a:p>
          <a:p>
            <a:r>
              <a:rPr lang="en-US" sz="1200" b="1" dirty="0">
                <a:solidFill>
                  <a:schemeClr val="bg2">
                    <a:lumMod val="50000"/>
                  </a:schemeClr>
                </a:solidFill>
              </a:rPr>
              <a:t> |</a:t>
            </a:r>
            <a:r>
              <a:rPr lang="en-US" sz="1400" b="1" dirty="0">
                <a:solidFill>
                  <a:schemeClr val="bg2">
                    <a:lumMod val="50000"/>
                  </a:schemeClr>
                </a:solidFill>
              </a:rPr>
              <a:t> Login      </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              	    	  |              		|          		    |</a:t>
            </a:r>
          </a:p>
          <a:p>
            <a:r>
              <a:rPr lang="en-US" sz="1200" b="1" dirty="0">
                <a:solidFill>
                  <a:schemeClr val="bg2">
                    <a:lumMod val="50000"/>
                  </a:schemeClr>
                </a:solidFill>
              </a:rPr>
              <a:t> | </a:t>
            </a:r>
            <a:r>
              <a:rPr lang="en-US" sz="1400" b="1" dirty="0">
                <a:solidFill>
                  <a:schemeClr val="bg2">
                    <a:lumMod val="50000"/>
                  </a:schemeClr>
                </a:solidFill>
              </a:rPr>
              <a:t>Run Flow     </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a:t>
            </a:r>
            <a:r>
              <a:rPr lang="en-US" sz="1400" b="1" dirty="0">
                <a:solidFill>
                  <a:schemeClr val="bg2">
                    <a:lumMod val="50000"/>
                  </a:schemeClr>
                </a:solidFill>
              </a:rPr>
              <a:t>Capture Username      </a:t>
            </a:r>
            <a:r>
              <a:rPr lang="en-US" sz="1200" b="1" dirty="0">
                <a:solidFill>
                  <a:schemeClr val="bg2">
                    <a:lumMod val="50000"/>
                  </a:schemeClr>
                </a:solidFill>
              </a:rPr>
              <a:t>	  |             		|    		    |</a:t>
            </a:r>
          </a:p>
          <a:p>
            <a:r>
              <a:rPr lang="en-US" sz="1200" b="1" dirty="0">
                <a:solidFill>
                  <a:schemeClr val="bg2">
                    <a:lumMod val="50000"/>
                  </a:schemeClr>
                </a:solidFill>
              </a:rPr>
              <a:t> |              		 |----------------&gt;	  |            		|              		    |</a:t>
            </a:r>
          </a:p>
          <a:p>
            <a:r>
              <a:rPr lang="en-US" sz="1200" b="1" dirty="0">
                <a:solidFill>
                  <a:schemeClr val="bg2">
                    <a:lumMod val="50000"/>
                  </a:schemeClr>
                </a:solidFill>
              </a:rPr>
              <a:t> |               		 | </a:t>
            </a:r>
            <a:r>
              <a:rPr lang="en-US" sz="1400" b="1" dirty="0">
                <a:solidFill>
                  <a:schemeClr val="bg2">
                    <a:lumMod val="50000"/>
                  </a:schemeClr>
                </a:solidFill>
              </a:rPr>
              <a:t>Launch EXE    </a:t>
            </a:r>
            <a:r>
              <a:rPr lang="en-US" sz="1200" b="1" dirty="0">
                <a:solidFill>
                  <a:schemeClr val="bg2">
                    <a:lumMod val="50000"/>
                  </a:schemeClr>
                </a:solidFill>
              </a:rPr>
              <a:t>	  |          		|        		    |</a:t>
            </a:r>
          </a:p>
          <a:p>
            <a:r>
              <a:rPr lang="en-US" sz="1200" b="1" dirty="0">
                <a:solidFill>
                  <a:schemeClr val="bg2">
                    <a:lumMod val="50000"/>
                  </a:schemeClr>
                </a:solidFill>
              </a:rPr>
              <a:t> |                 		 |-------------&gt;     	  |            		|     		    |</a:t>
            </a:r>
          </a:p>
          <a:p>
            <a:r>
              <a:rPr lang="en-US" sz="1200" b="1" dirty="0">
                <a:solidFill>
                  <a:schemeClr val="bg2">
                    <a:lumMod val="50000"/>
                  </a:schemeClr>
                </a:solidFill>
              </a:rPr>
              <a:t> |               		 |                	 	  | </a:t>
            </a:r>
            <a:r>
              <a:rPr lang="en-US" sz="1400" b="1" dirty="0">
                <a:solidFill>
                  <a:schemeClr val="bg2">
                    <a:lumMod val="50000"/>
                  </a:schemeClr>
                </a:solidFill>
              </a:rPr>
              <a:t>Display UI 	</a:t>
            </a:r>
            <a:r>
              <a:rPr lang="en-US" sz="1200" b="1" dirty="0">
                <a:solidFill>
                  <a:schemeClr val="bg2">
                    <a:lumMod val="50000"/>
                  </a:schemeClr>
                </a:solidFill>
              </a:rPr>
              <a:t>|	                              |</a:t>
            </a:r>
          </a:p>
          <a:p>
            <a:r>
              <a:rPr lang="en-US" sz="1200" b="1" dirty="0">
                <a:solidFill>
                  <a:schemeClr val="bg2">
                    <a:lumMod val="50000"/>
                  </a:schemeClr>
                </a:solidFill>
              </a:rPr>
              <a:t> |		  &lt;---------------------------------       |          		|         		    |</a:t>
            </a:r>
          </a:p>
          <a:p>
            <a:r>
              <a:rPr lang="en-US" sz="1200" b="1" dirty="0">
                <a:solidFill>
                  <a:schemeClr val="bg2">
                    <a:lumMod val="50000"/>
                  </a:schemeClr>
                </a:solidFill>
              </a:rPr>
              <a:t> | </a:t>
            </a:r>
            <a:r>
              <a:rPr lang="en-US" sz="1400" b="1" dirty="0">
                <a:solidFill>
                  <a:schemeClr val="bg2">
                    <a:lumMod val="50000"/>
                  </a:schemeClr>
                </a:solidFill>
              </a:rPr>
              <a:t>Enter Details</a:t>
            </a:r>
            <a:r>
              <a:rPr lang="en-US" sz="1200" b="1" dirty="0">
                <a:solidFill>
                  <a:schemeClr val="bg2">
                    <a:lumMod val="50000"/>
                  </a:schemeClr>
                </a:solidFill>
              </a:rPr>
              <a:t>	 |               		  |           		|          		    |</a:t>
            </a:r>
          </a:p>
          <a:p>
            <a:r>
              <a:rPr lang="en-US" sz="1200" b="1" dirty="0">
                <a:solidFill>
                  <a:schemeClr val="bg2">
                    <a:lumMod val="50000"/>
                  </a:schemeClr>
                </a:solidFill>
              </a:rPr>
              <a:t> |----------------------------------&gt;	 |               		  |            		|           		    |</a:t>
            </a:r>
          </a:p>
          <a:p>
            <a:r>
              <a:rPr lang="en-US" sz="1200" b="1" dirty="0">
                <a:solidFill>
                  <a:schemeClr val="bg2">
                    <a:lumMod val="50000"/>
                  </a:schemeClr>
                </a:solidFill>
              </a:rPr>
              <a:t> |                    		 |                	  	  | </a:t>
            </a:r>
            <a:r>
              <a:rPr lang="en-US" sz="1400" b="1" dirty="0">
                <a:solidFill>
                  <a:schemeClr val="bg2">
                    <a:lumMod val="50000"/>
                  </a:schemeClr>
                </a:solidFill>
              </a:rPr>
              <a:t>Generate Docs </a:t>
            </a:r>
            <a:r>
              <a:rPr lang="en-US" sz="1200" b="1" dirty="0">
                <a:solidFill>
                  <a:schemeClr val="bg2">
                    <a:lumMod val="50000"/>
                  </a:schemeClr>
                </a:solidFill>
              </a:rPr>
              <a:t>	|               		    |</a:t>
            </a:r>
          </a:p>
          <a:p>
            <a:r>
              <a:rPr lang="en-US" sz="1200" b="1" dirty="0">
                <a:solidFill>
                  <a:schemeClr val="bg2">
                    <a:lumMod val="50000"/>
                  </a:schemeClr>
                </a:solidFill>
              </a:rPr>
              <a:t> |                   		 |                		  |--------------------------------&gt;	| </a:t>
            </a:r>
            <a:r>
              <a:rPr lang="en-US" sz="1400" b="1" dirty="0">
                <a:solidFill>
                  <a:schemeClr val="bg2">
                    <a:lumMod val="50000"/>
                  </a:schemeClr>
                </a:solidFill>
              </a:rPr>
              <a:t>Save Files    </a:t>
            </a:r>
            <a:r>
              <a:rPr lang="en-US" sz="1200" b="1" dirty="0">
                <a:solidFill>
                  <a:schemeClr val="bg2">
                    <a:lumMod val="50000"/>
                  </a:schemeClr>
                </a:solidFill>
              </a:rPr>
              <a:t>	    |</a:t>
            </a:r>
          </a:p>
          <a:p>
            <a:r>
              <a:rPr lang="en-US" sz="1200" b="1" dirty="0">
                <a:solidFill>
                  <a:schemeClr val="bg2">
                    <a:lumMod val="50000"/>
                  </a:schemeClr>
                </a:solidFill>
              </a:rPr>
              <a:t> |                   		 |                		  |&lt;---------------------------------	|              		    |</a:t>
            </a:r>
          </a:p>
          <a:p>
            <a:r>
              <a:rPr lang="en-US" sz="1200" b="1" dirty="0">
                <a:solidFill>
                  <a:schemeClr val="bg2">
                    <a:lumMod val="50000"/>
                  </a:schemeClr>
                </a:solidFill>
              </a:rPr>
              <a:t> |                		 | </a:t>
            </a:r>
            <a:r>
              <a:rPr lang="en-US" sz="1400" b="1" dirty="0">
                <a:solidFill>
                  <a:schemeClr val="bg2">
                    <a:lumMod val="50000"/>
                  </a:schemeClr>
                </a:solidFill>
              </a:rPr>
              <a:t>Wait for Completion     </a:t>
            </a:r>
            <a:r>
              <a:rPr lang="en-US" sz="1200" b="1" dirty="0">
                <a:solidFill>
                  <a:schemeClr val="bg2">
                    <a:lumMod val="50000"/>
                  </a:schemeClr>
                </a:solidFill>
              </a:rPr>
              <a:t>  |     		|		    |  </a:t>
            </a:r>
          </a:p>
          <a:p>
            <a:r>
              <a:rPr lang="en-US" sz="1200" b="1" dirty="0">
                <a:solidFill>
                  <a:schemeClr val="bg2">
                    <a:lumMod val="50000"/>
                  </a:schemeClr>
                </a:solidFill>
              </a:rPr>
              <a:t> |                     		 |&lt;-----------------	  |            		|             		    |</a:t>
            </a:r>
          </a:p>
          <a:p>
            <a:r>
              <a:rPr lang="en-US" sz="1200" b="1" dirty="0">
                <a:solidFill>
                  <a:schemeClr val="bg2">
                    <a:lumMod val="50000"/>
                  </a:schemeClr>
                </a:solidFill>
              </a:rPr>
              <a:t> |                     		 |----------------------------------------------------------------------------------------------------------------------- |</a:t>
            </a:r>
            <a:r>
              <a:rPr lang="en-US" sz="1400" b="1" dirty="0">
                <a:solidFill>
                  <a:schemeClr val="bg2">
                    <a:lumMod val="50000"/>
                  </a:schemeClr>
                </a:solidFill>
              </a:rPr>
              <a:t>Send Email </a:t>
            </a:r>
            <a:endParaRPr lang="en-US" sz="1200" b="1" dirty="0">
              <a:solidFill>
                <a:schemeClr val="bg2">
                  <a:lumMod val="50000"/>
                </a:schemeClr>
              </a:solidFill>
            </a:endParaRPr>
          </a:p>
          <a:p>
            <a:r>
              <a:rPr lang="en-US" sz="1200" b="1" dirty="0">
                <a:solidFill>
                  <a:schemeClr val="bg2">
                    <a:lumMod val="50000"/>
                  </a:schemeClr>
                </a:solidFill>
              </a:rPr>
              <a:t> |                     		 |&lt;-------------------------------------------------------- ------------------------------------------------------------ -|</a:t>
            </a:r>
          </a:p>
          <a:p>
            <a:r>
              <a:rPr lang="en-US" sz="1200" b="1" dirty="0">
                <a:solidFill>
                  <a:schemeClr val="bg2">
                    <a:lumMod val="50000"/>
                  </a:schemeClr>
                </a:solidFill>
              </a:rPr>
              <a:t> | </a:t>
            </a:r>
            <a:r>
              <a:rPr lang="en-US" sz="1400" b="1" dirty="0">
                <a:solidFill>
                  <a:schemeClr val="bg2">
                    <a:lumMod val="50000"/>
                  </a:schemeClr>
                </a:solidFill>
              </a:rPr>
              <a:t>Show Success </a:t>
            </a:r>
            <a:r>
              <a:rPr lang="en-US" sz="1200" b="1" dirty="0">
                <a:solidFill>
                  <a:schemeClr val="bg2">
                    <a:lumMod val="50000"/>
                  </a:schemeClr>
                </a:solidFill>
              </a:rPr>
              <a:t>	 |               		  |              		 |        	                               |</a:t>
            </a:r>
          </a:p>
          <a:p>
            <a:r>
              <a:rPr lang="en-US" sz="1200" b="1" dirty="0">
                <a:solidFill>
                  <a:schemeClr val="bg2">
                    <a:lumMod val="50000"/>
                  </a:schemeClr>
                </a:solidFill>
              </a:rPr>
              <a:t> |&lt;------------------------------------ |             		  |          		 |             		     |</a:t>
            </a:r>
          </a:p>
        </p:txBody>
      </p:sp>
      <p:sp>
        <p:nvSpPr>
          <p:cNvPr id="8" name="Rectangle 7">
            <a:extLst>
              <a:ext uri="{FF2B5EF4-FFF2-40B4-BE49-F238E27FC236}">
                <a16:creationId xmlns:a16="http://schemas.microsoft.com/office/drawing/2014/main" id="{FA42A203-5DBE-4DF8-07B8-5967BA0C534A}"/>
              </a:ext>
            </a:extLst>
          </p:cNvPr>
          <p:cNvSpPr/>
          <p:nvPr/>
        </p:nvSpPr>
        <p:spPr>
          <a:xfrm>
            <a:off x="1442194" y="1153885"/>
            <a:ext cx="130100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solidFill>
              </a:rPr>
              <a:t>User</a:t>
            </a:r>
          </a:p>
        </p:txBody>
      </p:sp>
      <p:sp>
        <p:nvSpPr>
          <p:cNvPr id="9" name="Rectangle 8">
            <a:extLst>
              <a:ext uri="{FF2B5EF4-FFF2-40B4-BE49-F238E27FC236}">
                <a16:creationId xmlns:a16="http://schemas.microsoft.com/office/drawing/2014/main" id="{0EDFDD32-C151-5E0F-0E4F-4B5D5939A2F3}"/>
              </a:ext>
            </a:extLst>
          </p:cNvPr>
          <p:cNvSpPr/>
          <p:nvPr/>
        </p:nvSpPr>
        <p:spPr>
          <a:xfrm>
            <a:off x="3266979" y="1153885"/>
            <a:ext cx="162070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PAD Flow</a:t>
            </a:r>
            <a:endParaRPr lang="en-US" dirty="0"/>
          </a:p>
        </p:txBody>
      </p:sp>
      <p:sp>
        <p:nvSpPr>
          <p:cNvPr id="10" name="Rectangle 9">
            <a:extLst>
              <a:ext uri="{FF2B5EF4-FFF2-40B4-BE49-F238E27FC236}">
                <a16:creationId xmlns:a16="http://schemas.microsoft.com/office/drawing/2014/main" id="{78D4D5F0-54DB-B2DC-C9A1-F29ECABF848D}"/>
              </a:ext>
            </a:extLst>
          </p:cNvPr>
          <p:cNvSpPr/>
          <p:nvPr/>
        </p:nvSpPr>
        <p:spPr>
          <a:xfrm>
            <a:off x="5181600" y="1153884"/>
            <a:ext cx="1382485"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Python App</a:t>
            </a:r>
            <a:endParaRPr lang="en-US" dirty="0"/>
          </a:p>
        </p:txBody>
      </p:sp>
      <p:sp>
        <p:nvSpPr>
          <p:cNvPr id="11" name="Rectangle 10">
            <a:extLst>
              <a:ext uri="{FF2B5EF4-FFF2-40B4-BE49-F238E27FC236}">
                <a16:creationId xmlns:a16="http://schemas.microsoft.com/office/drawing/2014/main" id="{96C258FD-945D-51BB-7143-473D868F46DE}"/>
              </a:ext>
            </a:extLst>
          </p:cNvPr>
          <p:cNvSpPr/>
          <p:nvPr/>
        </p:nvSpPr>
        <p:spPr>
          <a:xfrm>
            <a:off x="6858000" y="1153885"/>
            <a:ext cx="1374130"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OneDrive</a:t>
            </a:r>
            <a:endParaRPr lang="en-US" dirty="0"/>
          </a:p>
        </p:txBody>
      </p:sp>
      <p:sp>
        <p:nvSpPr>
          <p:cNvPr id="12" name="Rectangle 11">
            <a:extLst>
              <a:ext uri="{FF2B5EF4-FFF2-40B4-BE49-F238E27FC236}">
                <a16:creationId xmlns:a16="http://schemas.microsoft.com/office/drawing/2014/main" id="{070E5F66-7814-5191-0980-B23A8A449ECB}"/>
              </a:ext>
            </a:extLst>
          </p:cNvPr>
          <p:cNvSpPr/>
          <p:nvPr/>
        </p:nvSpPr>
        <p:spPr>
          <a:xfrm>
            <a:off x="8915400" y="1153885"/>
            <a:ext cx="1153886" cy="359229"/>
          </a:xfrm>
          <a:prstGeom prst="rect">
            <a:avLst/>
          </a:prstGeom>
          <a:solidFill>
            <a:schemeClr val="accent3">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2">
                    <a:lumMod val="75000"/>
                  </a:schemeClr>
                </a:solidFill>
              </a:rPr>
              <a:t>Outlook</a:t>
            </a:r>
            <a:endParaRPr lang="en-US" dirty="0"/>
          </a:p>
        </p:txBody>
      </p:sp>
    </p:spTree>
    <p:extLst>
      <p:ext uri="{BB962C8B-B14F-4D97-AF65-F5344CB8AC3E}">
        <p14:creationId xmlns:p14="http://schemas.microsoft.com/office/powerpoint/2010/main" val="4068089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F61523-3F0A-DA0B-556B-1B0D1B1DC93A}"/>
              </a:ext>
            </a:extLst>
          </p:cNvPr>
          <p:cNvSpPr/>
          <p:nvPr/>
        </p:nvSpPr>
        <p:spPr>
          <a:xfrm>
            <a:off x="1436914" y="792164"/>
            <a:ext cx="8880568" cy="5478007"/>
          </a:xfrm>
          <a:prstGeom prst="rect">
            <a:avLst/>
          </a:prstGeom>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タイトル 1"/>
          <p:cNvSpPr>
            <a:spLocks noGrp="1"/>
          </p:cNvSpPr>
          <p:nvPr>
            <p:ph type="title"/>
          </p:nvPr>
        </p:nvSpPr>
        <p:spPr/>
        <p:txBody>
          <a:bodyPr/>
          <a:lstStyle/>
          <a:p>
            <a:r>
              <a:rPr lang="en-US" altLang="ja-JP" sz="2585" dirty="0">
                <a:latin typeface="NissanAG-Bold" pitchFamily="50" charset="0"/>
                <a:ea typeface="NissanAG-Bold" pitchFamily="50" charset="0"/>
                <a:cs typeface="Verdana" pitchFamily="34" charset="0"/>
                <a:sym typeface="Verdana" panose="020B0604030504040204" pitchFamily="34" charset="0"/>
              </a:rPr>
              <a:t>6. Data flow diagram</a:t>
            </a:r>
            <a:endParaRPr lang="ja-JP" altLang="en-US" sz="2585" dirty="0">
              <a:latin typeface="NissanAG-Bold" pitchFamily="50" charset="0"/>
              <a:ea typeface="NissanAG-Bold" pitchFamily="50" charset="0"/>
              <a:cs typeface="Verdana" pitchFamily="34" charset="0"/>
              <a:sym typeface="Verdana" panose="020B0604030504040204" pitchFamily="34" charset="0"/>
            </a:endParaRPr>
          </a:p>
        </p:txBody>
      </p:sp>
      <p:grpSp>
        <p:nvGrpSpPr>
          <p:cNvPr id="3" name="Group 2">
            <a:extLst>
              <a:ext uri="{FF2B5EF4-FFF2-40B4-BE49-F238E27FC236}">
                <a16:creationId xmlns:a16="http://schemas.microsoft.com/office/drawing/2014/main" id="{C9A01961-680C-BFA5-DA0C-A44739421D6A}"/>
              </a:ext>
            </a:extLst>
          </p:cNvPr>
          <p:cNvGrpSpPr/>
          <p:nvPr/>
        </p:nvGrpSpPr>
        <p:grpSpPr>
          <a:xfrm>
            <a:off x="12695273" y="0"/>
            <a:ext cx="3062177" cy="6858000"/>
            <a:chOff x="5986130" y="680484"/>
            <a:chExt cx="2562447" cy="4859079"/>
          </a:xfrm>
        </p:grpSpPr>
        <p:sp>
          <p:nvSpPr>
            <p:cNvPr id="4" name="Speech Bubble: Rectangle with Corners Rounded 3">
              <a:extLst>
                <a:ext uri="{FF2B5EF4-FFF2-40B4-BE49-F238E27FC236}">
                  <a16:creationId xmlns:a16="http://schemas.microsoft.com/office/drawing/2014/main" id="{A83C6912-7C33-C14C-1A14-3D21FE01EB0D}"/>
                </a:ext>
              </a:extLst>
            </p:cNvPr>
            <p:cNvSpPr/>
            <p:nvPr/>
          </p:nvSpPr>
          <p:spPr>
            <a:xfrm rot="5400000">
              <a:off x="4837814" y="1828800"/>
              <a:ext cx="4859079" cy="2562447"/>
            </a:xfrm>
            <a:prstGeom prst="wedgeRound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Nissan Pro Regular"/>
                <a:ea typeface="メイリオ"/>
                <a:cs typeface="+mn-cs"/>
              </a:endParaRPr>
            </a:p>
          </p:txBody>
        </p:sp>
        <p:sp>
          <p:nvSpPr>
            <p:cNvPr id="6" name="TextBox 5">
              <a:extLst>
                <a:ext uri="{FF2B5EF4-FFF2-40B4-BE49-F238E27FC236}">
                  <a16:creationId xmlns:a16="http://schemas.microsoft.com/office/drawing/2014/main" id="{8F91F3C4-E9E3-D95D-1153-6D0440F51F7D}"/>
                </a:ext>
              </a:extLst>
            </p:cNvPr>
            <p:cNvSpPr txBox="1"/>
            <p:nvPr/>
          </p:nvSpPr>
          <p:spPr>
            <a:xfrm>
              <a:off x="6096001" y="887055"/>
              <a:ext cx="2271823" cy="34018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Nissan Pro Regular"/>
                  <a:ea typeface="メイリオ"/>
                  <a:cs typeface="+mn-cs"/>
                </a:rPr>
                <a:t>Use this space for your Data Flow Diagram (refer to the example documents if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issan Pro Regular"/>
                <a:ea typeface="メイリオ"/>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FFFFFF"/>
                  </a:solidFill>
                  <a:effectLst/>
                  <a:uLnTx/>
                  <a:uFillTx/>
                  <a:latin typeface="Nissan Pro Regular"/>
                  <a:ea typeface="メイリオ"/>
                  <a:cs typeface="+mn-cs"/>
                </a:rPr>
                <a:t>“A data flow diagram (DFD) maps out the flow of information for any process or system. It uses defined symbols like rectangles, circles and arrows, plus short text labels, to show data inputs, outputs, storage points and the routes between each destination.” - </a:t>
              </a:r>
              <a:r>
                <a:rPr kumimoji="0" lang="en-US" sz="1800" b="1" i="1" u="none" strike="noStrike" kern="1200" cap="none" spc="0" normalizeH="0" baseline="0" noProof="0" err="1">
                  <a:ln>
                    <a:noFill/>
                  </a:ln>
                  <a:solidFill>
                    <a:srgbClr val="FFFFFF"/>
                  </a:solidFill>
                  <a:effectLst/>
                  <a:uLnTx/>
                  <a:uFillTx/>
                  <a:latin typeface="Nissan Pro Regular"/>
                  <a:ea typeface="メイリオ"/>
                  <a:cs typeface="+mn-cs"/>
                </a:rPr>
                <a:t>LucidChart</a:t>
              </a:r>
              <a:endParaRPr kumimoji="0" lang="en-US" sz="1800" b="1" i="1" u="none" strike="noStrike" kern="1200" cap="none" spc="0" normalizeH="0" baseline="0" noProof="0">
                <a:ln>
                  <a:noFill/>
                </a:ln>
                <a:solidFill>
                  <a:srgbClr val="FFFFFF"/>
                </a:solidFill>
                <a:effectLst/>
                <a:uLnTx/>
                <a:uFillTx/>
                <a:latin typeface="Nissan Pro Regular"/>
                <a:ea typeface="メイリオ"/>
                <a:cs typeface="+mn-cs"/>
              </a:endParaRPr>
            </a:p>
          </p:txBody>
        </p:sp>
      </p:grpSp>
      <p:sp>
        <p:nvSpPr>
          <p:cNvPr id="10" name="Rectangle 9"/>
          <p:cNvSpPr/>
          <p:nvPr/>
        </p:nvSpPr>
        <p:spPr>
          <a:xfrm>
            <a:off x="1737360" y="1051560"/>
            <a:ext cx="1463040" cy="1325880"/>
          </a:xfrm>
          <a:prstGeom prst="rect">
            <a:avLst/>
          </a:prstGeom>
          <a:solidFill>
            <a:srgbClr val="EAF1FE"/>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100" b="1">
                <a:solidFill>
                  <a:srgbClr val="1B4FA8"/>
                </a:solidFill>
                <a:latin typeface="Calibri"/>
              </a:rPr>
              <a:t>HR User</a:t>
            </a:r>
          </a:p>
          <a:p>
            <a:pPr algn="l">
              <a:spcAft>
                <a:spcPts val="100"/>
              </a:spcAft>
            </a:pPr>
            <a:r>
              <a:rPr sz="800" b="0">
                <a:solidFill>
                  <a:srgbClr val="333333"/>
                </a:solidFill>
                <a:latin typeface="Calibri"/>
              </a:rPr>
              <a:t>• Login via SSO</a:t>
            </a:r>
          </a:p>
          <a:p>
            <a:pPr algn="l">
              <a:spcAft>
                <a:spcPts val="100"/>
              </a:spcAft>
            </a:pPr>
            <a:r>
              <a:rPr sz="800" b="0">
                <a:solidFill>
                  <a:srgbClr val="333333"/>
                </a:solidFill>
                <a:latin typeface="Calibri"/>
              </a:rPr>
              <a:t>• Role auto-assigned</a:t>
            </a:r>
          </a:p>
          <a:p>
            <a:pPr algn="l">
              <a:spcAft>
                <a:spcPts val="100"/>
              </a:spcAft>
            </a:pPr>
            <a:r>
              <a:rPr sz="800" b="0">
                <a:solidFill>
                  <a:srgbClr val="333333"/>
                </a:solidFill>
                <a:latin typeface="Calibri"/>
              </a:rPr>
              <a:t>• Submit request</a:t>
            </a:r>
          </a:p>
        </p:txBody>
      </p:sp>
      <p:sp>
        <p:nvSpPr>
          <p:cNvPr id="11" name="Rounded Rectangle 10"/>
          <p:cNvSpPr/>
          <p:nvPr/>
        </p:nvSpPr>
        <p:spPr>
          <a:xfrm>
            <a:off x="3520440" y="1051560"/>
            <a:ext cx="1737360" cy="1325880"/>
          </a:xfrm>
          <a:prstGeom prst="roundRect">
            <a:avLst/>
          </a:prstGeom>
          <a:solidFill>
            <a:srgbClr val="FFFFFF"/>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0"/>
              </a:spcAft>
            </a:pPr>
            <a:r>
              <a:rPr sz="1000" b="1">
                <a:solidFill>
                  <a:srgbClr val="1B4FA8"/>
                </a:solidFill>
                <a:latin typeface="Calibri"/>
              </a:rPr>
              <a:t>1  SSO Login &amp;</a:t>
            </a:r>
          </a:p>
          <a:p>
            <a:pPr algn="l">
              <a:spcAft>
                <a:spcPts val="300"/>
              </a:spcAft>
            </a:pPr>
            <a:r>
              <a:rPr sz="1000" b="1">
                <a:solidFill>
                  <a:srgbClr val="1B4FA8"/>
                </a:solidFill>
                <a:latin typeface="Calibri"/>
              </a:rPr>
              <a:t>   Role Assignment</a:t>
            </a:r>
          </a:p>
          <a:p>
            <a:pPr algn="l">
              <a:spcAft>
                <a:spcPts val="100"/>
              </a:spcAft>
            </a:pPr>
            <a:r>
              <a:rPr sz="800" b="0">
                <a:solidFill>
                  <a:srgbClr val="333333"/>
                </a:solidFill>
                <a:latin typeface="Calibri"/>
              </a:rPr>
              <a:t>• Authenticate via SSO</a:t>
            </a:r>
          </a:p>
          <a:p>
            <a:pPr algn="l">
              <a:spcAft>
                <a:spcPts val="100"/>
              </a:spcAft>
            </a:pPr>
            <a:r>
              <a:rPr sz="800" b="0">
                <a:solidFill>
                  <a:srgbClr val="333333"/>
                </a:solidFill>
                <a:latin typeface="Calibri"/>
              </a:rPr>
              <a:t>• Auto-assign role</a:t>
            </a:r>
          </a:p>
        </p:txBody>
      </p:sp>
      <p:sp>
        <p:nvSpPr>
          <p:cNvPr id="12" name="Rounded Rectangle 11"/>
          <p:cNvSpPr/>
          <p:nvPr/>
        </p:nvSpPr>
        <p:spPr>
          <a:xfrm>
            <a:off x="5577840" y="1051560"/>
            <a:ext cx="1737360" cy="1325880"/>
          </a:xfrm>
          <a:prstGeom prst="roundRect">
            <a:avLst/>
          </a:prstGeom>
          <a:solidFill>
            <a:srgbClr val="FFFFFF"/>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0"/>
              </a:spcAft>
            </a:pPr>
            <a:r>
              <a:rPr sz="1000" b="1">
                <a:solidFill>
                  <a:srgbClr val="1B4FA8"/>
                </a:solidFill>
                <a:latin typeface="Calibri"/>
              </a:rPr>
              <a:t>2  Capture &amp; Validate</a:t>
            </a:r>
          </a:p>
          <a:p>
            <a:pPr algn="l">
              <a:spcAft>
                <a:spcPts val="300"/>
              </a:spcAft>
            </a:pPr>
            <a:r>
              <a:rPr sz="1000" b="1">
                <a:solidFill>
                  <a:srgbClr val="1B4FA8"/>
                </a:solidFill>
                <a:latin typeface="Calibri"/>
              </a:rPr>
              <a:t>   Inputs</a:t>
            </a:r>
          </a:p>
          <a:p>
            <a:pPr algn="l">
              <a:spcAft>
                <a:spcPts val="100"/>
              </a:spcAft>
            </a:pPr>
            <a:r>
              <a:rPr sz="800" b="0">
                <a:solidFill>
                  <a:srgbClr val="333333"/>
                </a:solidFill>
                <a:latin typeface="Calibri"/>
              </a:rPr>
              <a:t>• Enter OHR ID &amp; fields</a:t>
            </a:r>
          </a:p>
          <a:p>
            <a:pPr algn="l">
              <a:spcAft>
                <a:spcPts val="100"/>
              </a:spcAft>
            </a:pPr>
            <a:r>
              <a:rPr sz="800" b="0">
                <a:solidFill>
                  <a:srgbClr val="333333"/>
                </a:solidFill>
                <a:latin typeface="Calibri"/>
              </a:rPr>
              <a:t>• Validate mandatory fields</a:t>
            </a:r>
          </a:p>
        </p:txBody>
      </p:sp>
      <p:sp>
        <p:nvSpPr>
          <p:cNvPr id="13" name="Rounded Rectangle 12"/>
          <p:cNvSpPr/>
          <p:nvPr/>
        </p:nvSpPr>
        <p:spPr>
          <a:xfrm>
            <a:off x="7635240" y="1051560"/>
            <a:ext cx="1920240" cy="1325880"/>
          </a:xfrm>
          <a:prstGeom prst="roundRect">
            <a:avLst/>
          </a:prstGeom>
          <a:solidFill>
            <a:srgbClr val="FFFFFF"/>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000" b="1">
                <a:solidFill>
                  <a:srgbClr val="1B4FA8"/>
                </a:solidFill>
                <a:latin typeface="Calibri"/>
              </a:rPr>
              <a:t>3  Process Request</a:t>
            </a:r>
          </a:p>
          <a:p>
            <a:pPr algn="l">
              <a:spcAft>
                <a:spcPts val="100"/>
              </a:spcAft>
            </a:pPr>
            <a:r>
              <a:rPr sz="800" b="0">
                <a:solidFill>
                  <a:srgbClr val="333333"/>
                </a:solidFill>
                <a:latin typeface="Calibri"/>
              </a:rPr>
              <a:t>• Single: process employee</a:t>
            </a:r>
          </a:p>
          <a:p>
            <a:pPr algn="l">
              <a:spcAft>
                <a:spcPts val="100"/>
              </a:spcAft>
            </a:pPr>
            <a:r>
              <a:rPr sz="800" b="0">
                <a:solidFill>
                  <a:srgbClr val="333333"/>
                </a:solidFill>
                <a:latin typeface="Calibri"/>
              </a:rPr>
              <a:t>• Bulk: process employee list</a:t>
            </a:r>
          </a:p>
        </p:txBody>
      </p:sp>
      <p:sp>
        <p:nvSpPr>
          <p:cNvPr id="14" name="Rounded Rectangle 13"/>
          <p:cNvSpPr/>
          <p:nvPr/>
        </p:nvSpPr>
        <p:spPr>
          <a:xfrm>
            <a:off x="3520440" y="4160520"/>
            <a:ext cx="1737360" cy="1143000"/>
          </a:xfrm>
          <a:prstGeom prst="roundRect">
            <a:avLst/>
          </a:prstGeom>
          <a:solidFill>
            <a:srgbClr val="FFFFFF"/>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000" b="1">
                <a:solidFill>
                  <a:srgbClr val="1B4FA8"/>
                </a:solidFill>
                <a:latin typeface="Calibri"/>
              </a:rPr>
              <a:t>5  Send Notification</a:t>
            </a:r>
          </a:p>
          <a:p>
            <a:pPr algn="l">
              <a:spcAft>
                <a:spcPts val="100"/>
              </a:spcAft>
            </a:pPr>
            <a:r>
              <a:rPr sz="800" b="0">
                <a:solidFill>
                  <a:srgbClr val="333333"/>
                </a:solidFill>
                <a:latin typeface="Calibri"/>
              </a:rPr>
              <a:t>• Completion email</a:t>
            </a:r>
          </a:p>
          <a:p>
            <a:pPr algn="l">
              <a:spcAft>
                <a:spcPts val="100"/>
              </a:spcAft>
            </a:pPr>
            <a:r>
              <a:rPr sz="800" b="0">
                <a:solidFill>
                  <a:srgbClr val="333333"/>
                </a:solidFill>
                <a:latin typeface="Calibri"/>
              </a:rPr>
              <a:t>• Attach summary/log</a:t>
            </a:r>
          </a:p>
        </p:txBody>
      </p:sp>
      <p:sp>
        <p:nvSpPr>
          <p:cNvPr id="15" name="Rounded Rectangle 14"/>
          <p:cNvSpPr/>
          <p:nvPr/>
        </p:nvSpPr>
        <p:spPr>
          <a:xfrm>
            <a:off x="5577840" y="2697480"/>
            <a:ext cx="1737360" cy="1143000"/>
          </a:xfrm>
          <a:prstGeom prst="roundRect">
            <a:avLst/>
          </a:prstGeom>
          <a:solidFill>
            <a:srgbClr val="FFFFFF"/>
          </a:solidFill>
          <a:ln w="15875">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000" b="1">
                <a:solidFill>
                  <a:srgbClr val="1B4FA8"/>
                </a:solidFill>
                <a:latin typeface="Calibri"/>
              </a:rPr>
              <a:t>4  Generate Letters</a:t>
            </a:r>
          </a:p>
          <a:p>
            <a:pPr algn="l">
              <a:spcAft>
                <a:spcPts val="100"/>
              </a:spcAft>
            </a:pPr>
            <a:r>
              <a:rPr sz="800" b="0">
                <a:solidFill>
                  <a:srgbClr val="333333"/>
                </a:solidFill>
                <a:latin typeface="Calibri"/>
              </a:rPr>
              <a:t>• Fill dynamic fields</a:t>
            </a:r>
          </a:p>
          <a:p>
            <a:pPr algn="l">
              <a:spcAft>
                <a:spcPts val="100"/>
              </a:spcAft>
            </a:pPr>
            <a:r>
              <a:rPr sz="800" b="0">
                <a:solidFill>
                  <a:srgbClr val="333333"/>
                </a:solidFill>
                <a:latin typeface="Calibri"/>
              </a:rPr>
              <a:t>• Generate Word/PDF</a:t>
            </a:r>
          </a:p>
        </p:txBody>
      </p:sp>
      <p:sp>
        <p:nvSpPr>
          <p:cNvPr id="16" name="Rounded Rectangle 15"/>
          <p:cNvSpPr/>
          <p:nvPr/>
        </p:nvSpPr>
        <p:spPr>
          <a:xfrm>
            <a:off x="5577840" y="4160520"/>
            <a:ext cx="1737360" cy="1143000"/>
          </a:xfrm>
          <a:prstGeom prst="roundRect">
            <a:avLst/>
          </a:prstGeom>
          <a:solidFill>
            <a:srgbClr val="EAF9E7"/>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000" b="1">
                <a:solidFill>
                  <a:srgbClr val="2E8B57"/>
                </a:solidFill>
                <a:latin typeface="Calibri"/>
              </a:rPr>
              <a:t>D3  Log Files</a:t>
            </a:r>
          </a:p>
          <a:p>
            <a:pPr algn="l">
              <a:spcAft>
                <a:spcPts val="100"/>
              </a:spcAft>
            </a:pPr>
            <a:r>
              <a:rPr sz="800" b="0">
                <a:solidFill>
                  <a:srgbClr val="333333"/>
                </a:solidFill>
                <a:latin typeface="Calibri"/>
              </a:rPr>
              <a:t>• Process / error logs</a:t>
            </a:r>
          </a:p>
          <a:p>
            <a:pPr algn="l">
              <a:spcAft>
                <a:spcPts val="100"/>
              </a:spcAft>
            </a:pPr>
            <a:r>
              <a:rPr sz="800" b="0">
                <a:solidFill>
                  <a:srgbClr val="333333"/>
                </a:solidFill>
                <a:latin typeface="Calibri"/>
              </a:rPr>
              <a:t>• Audit logs</a:t>
            </a:r>
          </a:p>
        </p:txBody>
      </p:sp>
      <p:sp>
        <p:nvSpPr>
          <p:cNvPr id="17" name="Rounded Rectangle 16"/>
          <p:cNvSpPr/>
          <p:nvPr/>
        </p:nvSpPr>
        <p:spPr>
          <a:xfrm>
            <a:off x="7635240" y="2697480"/>
            <a:ext cx="1920240" cy="1143000"/>
          </a:xfrm>
          <a:prstGeom prst="roundRect">
            <a:avLst/>
          </a:prstGeom>
          <a:solidFill>
            <a:srgbClr val="EAF9E7"/>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0"/>
              </a:spcAft>
            </a:pPr>
            <a:r>
              <a:rPr sz="950" b="1">
                <a:solidFill>
                  <a:srgbClr val="2E8B57"/>
                </a:solidFill>
                <a:latin typeface="Calibri"/>
              </a:rPr>
              <a:t>D1  S3 Bucket</a:t>
            </a:r>
          </a:p>
          <a:p>
            <a:pPr algn="l">
              <a:spcAft>
                <a:spcPts val="300"/>
              </a:spcAft>
            </a:pPr>
            <a:r>
              <a:rPr sz="950" b="1">
                <a:solidFill>
                  <a:srgbClr val="2E8B57"/>
                </a:solidFill>
                <a:latin typeface="Calibri"/>
              </a:rPr>
              <a:t>   (Templates &amp; Config)</a:t>
            </a:r>
          </a:p>
          <a:p>
            <a:pPr algn="l">
              <a:spcAft>
                <a:spcPts val="100"/>
              </a:spcAft>
            </a:pPr>
            <a:r>
              <a:rPr sz="800" b="0">
                <a:solidFill>
                  <a:srgbClr val="333333"/>
                </a:solidFill>
                <a:latin typeface="Calibri"/>
              </a:rPr>
              <a:t>• Bulk &amp; letter templates</a:t>
            </a:r>
          </a:p>
          <a:p>
            <a:pPr algn="l">
              <a:spcAft>
                <a:spcPts val="100"/>
              </a:spcAft>
            </a:pPr>
            <a:r>
              <a:rPr sz="800" b="0">
                <a:solidFill>
                  <a:srgbClr val="333333"/>
                </a:solidFill>
                <a:latin typeface="Calibri"/>
              </a:rPr>
              <a:t>• Config &amp; signatory data</a:t>
            </a:r>
          </a:p>
        </p:txBody>
      </p:sp>
      <p:sp>
        <p:nvSpPr>
          <p:cNvPr id="18" name="Rounded Rectangle 17"/>
          <p:cNvSpPr/>
          <p:nvPr/>
        </p:nvSpPr>
        <p:spPr>
          <a:xfrm>
            <a:off x="7635240" y="4160520"/>
            <a:ext cx="1920240" cy="1143000"/>
          </a:xfrm>
          <a:prstGeom prst="roundRect">
            <a:avLst/>
          </a:prstGeom>
          <a:solidFill>
            <a:srgbClr val="EAF9E7"/>
          </a:solidFill>
          <a:ln w="15875">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0"/>
              </a:spcAft>
            </a:pPr>
            <a:r>
              <a:rPr sz="950" b="1">
                <a:solidFill>
                  <a:srgbClr val="2E8B57"/>
                </a:solidFill>
                <a:latin typeface="Calibri"/>
              </a:rPr>
              <a:t>D2  S3 Bucket</a:t>
            </a:r>
          </a:p>
          <a:p>
            <a:pPr algn="l">
              <a:spcAft>
                <a:spcPts val="300"/>
              </a:spcAft>
            </a:pPr>
            <a:r>
              <a:rPr sz="950" b="1">
                <a:solidFill>
                  <a:srgbClr val="2E8B57"/>
                </a:solidFill>
                <a:latin typeface="Calibri"/>
              </a:rPr>
              <a:t>   (Output Folder)</a:t>
            </a:r>
          </a:p>
          <a:p>
            <a:pPr algn="l">
              <a:spcAft>
                <a:spcPts val="100"/>
              </a:spcAft>
            </a:pPr>
            <a:r>
              <a:rPr sz="800" b="0">
                <a:solidFill>
                  <a:srgbClr val="333333"/>
                </a:solidFill>
                <a:latin typeface="Calibri"/>
              </a:rPr>
              <a:t>• Generated letters</a:t>
            </a:r>
          </a:p>
          <a:p>
            <a:pPr algn="l">
              <a:spcAft>
                <a:spcPts val="100"/>
              </a:spcAft>
            </a:pPr>
            <a:r>
              <a:rPr sz="800" b="0">
                <a:solidFill>
                  <a:srgbClr val="333333"/>
                </a:solidFill>
                <a:latin typeface="Calibri"/>
              </a:rPr>
              <a:t>• Excel reports &amp; logs</a:t>
            </a:r>
          </a:p>
        </p:txBody>
      </p:sp>
      <p:sp>
        <p:nvSpPr>
          <p:cNvPr id="19" name="Rectangle 18"/>
          <p:cNvSpPr/>
          <p:nvPr/>
        </p:nvSpPr>
        <p:spPr>
          <a:xfrm>
            <a:off x="1737360" y="4160520"/>
            <a:ext cx="1463040" cy="1143000"/>
          </a:xfrm>
          <a:prstGeom prst="rect">
            <a:avLst/>
          </a:prstGeom>
          <a:solidFill>
            <a:srgbClr val="FFF6E8"/>
          </a:solidFill>
          <a:ln w="15875">
            <a:solidFill>
              <a:srgbClr val="D98A2A"/>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64008" tIns="54864"/>
          <a:lstStyle/>
          <a:p>
            <a:pPr algn="l">
              <a:spcAft>
                <a:spcPts val="300"/>
              </a:spcAft>
            </a:pPr>
            <a:r>
              <a:rPr sz="1000" b="1">
                <a:solidFill>
                  <a:srgbClr val="D98A2A"/>
                </a:solidFill>
                <a:latin typeface="Calibri"/>
              </a:rPr>
              <a:t>Microsoft Outlook</a:t>
            </a:r>
          </a:p>
          <a:p>
            <a:pPr algn="l">
              <a:spcAft>
                <a:spcPts val="100"/>
              </a:spcAft>
            </a:pPr>
            <a:r>
              <a:rPr sz="800" b="0">
                <a:solidFill>
                  <a:srgbClr val="333333"/>
                </a:solidFill>
                <a:latin typeface="Calibri"/>
              </a:rPr>
              <a:t>• External system</a:t>
            </a:r>
          </a:p>
        </p:txBody>
      </p:sp>
      <p:cxnSp>
        <p:nvCxnSpPr>
          <p:cNvPr id="20" name="Connector 19"/>
          <p:cNvCxnSpPr/>
          <p:nvPr/>
        </p:nvCxnSpPr>
        <p:spPr>
          <a:xfrm>
            <a:off x="3200400" y="1714500"/>
            <a:ext cx="320040" cy="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227832" y="1403604"/>
            <a:ext cx="265176" cy="219456"/>
          </a:xfrm>
          <a:prstGeom prst="rect">
            <a:avLst/>
          </a:prstGeom>
          <a:solidFill>
            <a:srgbClr val="FFFFFF"/>
          </a:solidFill>
          <a:ln>
            <a:noFill/>
          </a:ln>
        </p:spPr>
        <p:txBody>
          <a:bodyPr wrap="square" lIns="18288" rIns="18288" tIns="0" bIns="0">
            <a:spAutoFit/>
          </a:bodyPr>
          <a:lstStyle/>
          <a:p>
            <a:pPr algn="ctr"/>
            <a:r>
              <a:rPr sz="750" b="0">
                <a:solidFill>
                  <a:srgbClr val="333333"/>
                </a:solidFill>
                <a:latin typeface="Calibri"/>
              </a:rPr>
              <a:t>SSO Login</a:t>
            </a:r>
          </a:p>
        </p:txBody>
      </p:sp>
      <p:cxnSp>
        <p:nvCxnSpPr>
          <p:cNvPr id="22" name="Connector 21"/>
          <p:cNvCxnSpPr/>
          <p:nvPr/>
        </p:nvCxnSpPr>
        <p:spPr>
          <a:xfrm>
            <a:off x="5257800" y="1714500"/>
            <a:ext cx="320040" cy="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120640" y="1403604"/>
            <a:ext cx="594359" cy="219456"/>
          </a:xfrm>
          <a:prstGeom prst="rect">
            <a:avLst/>
          </a:prstGeom>
          <a:solidFill>
            <a:srgbClr val="FFFFFF"/>
          </a:solidFill>
          <a:ln>
            <a:noFill/>
          </a:ln>
        </p:spPr>
        <p:txBody>
          <a:bodyPr wrap="square" lIns="18288" rIns="18288" tIns="0" bIns="0">
            <a:spAutoFit/>
          </a:bodyPr>
          <a:lstStyle/>
          <a:p>
            <a:pPr algn="ctr"/>
            <a:r>
              <a:rPr sz="700" b="0">
                <a:solidFill>
                  <a:srgbClr val="333333"/>
                </a:solidFill>
                <a:latin typeface="Calibri"/>
              </a:rPr>
              <a:t>Session+Role</a:t>
            </a:r>
          </a:p>
        </p:txBody>
      </p:sp>
      <p:cxnSp>
        <p:nvCxnSpPr>
          <p:cNvPr id="24" name="Connector 23"/>
          <p:cNvCxnSpPr/>
          <p:nvPr/>
        </p:nvCxnSpPr>
        <p:spPr>
          <a:xfrm>
            <a:off x="7315200" y="1714500"/>
            <a:ext cx="320040" cy="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178040" y="1403604"/>
            <a:ext cx="594359" cy="219456"/>
          </a:xfrm>
          <a:prstGeom prst="rect">
            <a:avLst/>
          </a:prstGeom>
          <a:solidFill>
            <a:srgbClr val="FFFFFF"/>
          </a:solidFill>
          <a:ln>
            <a:noFill/>
          </a:ln>
        </p:spPr>
        <p:txBody>
          <a:bodyPr wrap="square" lIns="18288" rIns="18288" tIns="0" bIns="0">
            <a:spAutoFit/>
          </a:bodyPr>
          <a:lstStyle/>
          <a:p>
            <a:pPr algn="ctr"/>
            <a:r>
              <a:rPr sz="700" b="0">
                <a:solidFill>
                  <a:srgbClr val="333333"/>
                </a:solidFill>
                <a:latin typeface="Calibri"/>
              </a:rPr>
              <a:t>Validated Data</a:t>
            </a:r>
          </a:p>
        </p:txBody>
      </p:sp>
      <p:cxnSp>
        <p:nvCxnSpPr>
          <p:cNvPr id="26" name="Connector 25"/>
          <p:cNvCxnSpPr/>
          <p:nvPr/>
        </p:nvCxnSpPr>
        <p:spPr>
          <a:xfrm>
            <a:off x="8595360" y="2377439"/>
            <a:ext cx="0" cy="320041"/>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0" y="2386583"/>
            <a:ext cx="777240" cy="182880"/>
          </a:xfrm>
          <a:prstGeom prst="rect">
            <a:avLst/>
          </a:prstGeom>
          <a:solidFill>
            <a:srgbClr val="FFFFFF"/>
          </a:solidFill>
          <a:ln>
            <a:noFill/>
          </a:ln>
        </p:spPr>
        <p:txBody>
          <a:bodyPr wrap="square" lIns="18288" rIns="18288" tIns="0" bIns="0">
            <a:spAutoFit/>
          </a:bodyPr>
          <a:lstStyle/>
          <a:p>
            <a:pPr algn="r"/>
            <a:r>
              <a:rPr sz="700" b="0">
                <a:solidFill>
                  <a:srgbClr val="333333"/>
                </a:solidFill>
                <a:latin typeface="Calibri"/>
              </a:rPr>
              <a:t>Template</a:t>
            </a:r>
          </a:p>
        </p:txBody>
      </p:sp>
      <p:cxnSp>
        <p:nvCxnSpPr>
          <p:cNvPr id="28" name="Connector 27"/>
          <p:cNvCxnSpPr/>
          <p:nvPr/>
        </p:nvCxnSpPr>
        <p:spPr>
          <a:xfrm flipH="1">
            <a:off x="7315200" y="3268980"/>
            <a:ext cx="320040" cy="0"/>
          </a:xfrm>
          <a:prstGeom prst="line">
            <a:avLst/>
          </a:prstGeom>
          <a:ln w="15875">
            <a:solidFill>
              <a:srgbClr val="2E8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178040" y="2958084"/>
            <a:ext cx="594359" cy="219456"/>
          </a:xfrm>
          <a:prstGeom prst="rect">
            <a:avLst/>
          </a:prstGeom>
          <a:solidFill>
            <a:srgbClr val="FFFFFF"/>
          </a:solidFill>
          <a:ln>
            <a:noFill/>
          </a:ln>
        </p:spPr>
        <p:txBody>
          <a:bodyPr wrap="square" lIns="18288" rIns="18288" tIns="0" bIns="0">
            <a:spAutoFit/>
          </a:bodyPr>
          <a:lstStyle/>
          <a:p>
            <a:pPr algn="ctr"/>
            <a:r>
              <a:rPr sz="700" b="0">
                <a:solidFill>
                  <a:srgbClr val="333333"/>
                </a:solidFill>
                <a:latin typeface="Calibri"/>
              </a:rPr>
              <a:t>Templates</a:t>
            </a:r>
          </a:p>
        </p:txBody>
      </p:sp>
      <p:cxnSp>
        <p:nvCxnSpPr>
          <p:cNvPr id="30" name="Connector 29"/>
          <p:cNvCxnSpPr/>
          <p:nvPr/>
        </p:nvCxnSpPr>
        <p:spPr>
          <a:xfrm flipH="1">
            <a:off x="7040880" y="2377439"/>
            <a:ext cx="868680" cy="320041"/>
          </a:xfrm>
          <a:prstGeom prst="bentConnector3">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43600" y="2560320"/>
            <a:ext cx="1280160" cy="182880"/>
          </a:xfrm>
          <a:prstGeom prst="rect">
            <a:avLst/>
          </a:prstGeom>
          <a:solidFill>
            <a:srgbClr val="FFFFFF"/>
          </a:solidFill>
          <a:ln>
            <a:noFill/>
          </a:ln>
        </p:spPr>
        <p:txBody>
          <a:bodyPr wrap="square" lIns="18288" rIns="18288" tIns="0" bIns="0">
            <a:spAutoFit/>
          </a:bodyPr>
          <a:lstStyle/>
          <a:p>
            <a:pPr algn="r"/>
            <a:r>
              <a:rPr sz="700" b="0">
                <a:solidFill>
                  <a:srgbClr val="333333"/>
                </a:solidFill>
                <a:latin typeface="Calibri"/>
              </a:rPr>
              <a:t>Processing Data</a:t>
            </a:r>
          </a:p>
        </p:txBody>
      </p:sp>
      <p:cxnSp>
        <p:nvCxnSpPr>
          <p:cNvPr id="32" name="Connector 31"/>
          <p:cNvCxnSpPr/>
          <p:nvPr/>
        </p:nvCxnSpPr>
        <p:spPr>
          <a:xfrm>
            <a:off x="7040880" y="3840480"/>
            <a:ext cx="868680" cy="320040"/>
          </a:xfrm>
          <a:prstGeom prst="bentConnector3">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32520" y="3849624"/>
            <a:ext cx="1188720" cy="182880"/>
          </a:xfrm>
          <a:prstGeom prst="rect">
            <a:avLst/>
          </a:prstGeom>
          <a:solidFill>
            <a:srgbClr val="FFFFFF"/>
          </a:solidFill>
          <a:ln>
            <a:noFill/>
          </a:ln>
        </p:spPr>
        <p:txBody>
          <a:bodyPr wrap="square" lIns="18288" rIns="18288" tIns="0" bIns="0">
            <a:spAutoFit/>
          </a:bodyPr>
          <a:lstStyle/>
          <a:p>
            <a:pPr algn="l"/>
            <a:r>
              <a:rPr sz="700" b="0">
                <a:solidFill>
                  <a:srgbClr val="333333"/>
                </a:solidFill>
                <a:latin typeface="Calibri"/>
              </a:rPr>
              <a:t>Generated Files</a:t>
            </a:r>
          </a:p>
        </p:txBody>
      </p:sp>
      <p:cxnSp>
        <p:nvCxnSpPr>
          <p:cNvPr id="34" name="Connector 33"/>
          <p:cNvCxnSpPr/>
          <p:nvPr/>
        </p:nvCxnSpPr>
        <p:spPr>
          <a:xfrm>
            <a:off x="6446520" y="3840480"/>
            <a:ext cx="0" cy="32004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32120" y="3849624"/>
            <a:ext cx="868680" cy="182880"/>
          </a:xfrm>
          <a:prstGeom prst="rect">
            <a:avLst/>
          </a:prstGeom>
          <a:solidFill>
            <a:srgbClr val="FFFFFF"/>
          </a:solidFill>
          <a:ln>
            <a:noFill/>
          </a:ln>
        </p:spPr>
        <p:txBody>
          <a:bodyPr wrap="square" lIns="18288" rIns="18288" tIns="0" bIns="0">
            <a:spAutoFit/>
          </a:bodyPr>
          <a:lstStyle/>
          <a:p>
            <a:pPr algn="r"/>
            <a:r>
              <a:rPr sz="700" b="0">
                <a:solidFill>
                  <a:srgbClr val="333333"/>
                </a:solidFill>
                <a:latin typeface="Calibri"/>
              </a:rPr>
              <a:t>Log Data</a:t>
            </a:r>
          </a:p>
        </p:txBody>
      </p:sp>
      <p:cxnSp>
        <p:nvCxnSpPr>
          <p:cNvPr id="36" name="Connector 35"/>
          <p:cNvCxnSpPr/>
          <p:nvPr/>
        </p:nvCxnSpPr>
        <p:spPr>
          <a:xfrm flipH="1">
            <a:off x="5257800" y="4732020"/>
            <a:ext cx="320040" cy="0"/>
          </a:xfrm>
          <a:prstGeom prst="line">
            <a:avLst/>
          </a:prstGeom>
          <a:ln w="15875">
            <a:solidFill>
              <a:srgbClr val="1B4FA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120640" y="4786883"/>
            <a:ext cx="594359" cy="219456"/>
          </a:xfrm>
          <a:prstGeom prst="rect">
            <a:avLst/>
          </a:prstGeom>
          <a:solidFill>
            <a:srgbClr val="FFFFFF"/>
          </a:solidFill>
          <a:ln>
            <a:noFill/>
          </a:ln>
        </p:spPr>
        <p:txBody>
          <a:bodyPr wrap="square" lIns="18288" rIns="18288" tIns="0" bIns="0">
            <a:spAutoFit/>
          </a:bodyPr>
          <a:lstStyle/>
          <a:p>
            <a:pPr algn="ctr"/>
            <a:r>
              <a:rPr sz="700" b="0">
                <a:solidFill>
                  <a:srgbClr val="333333"/>
                </a:solidFill>
                <a:latin typeface="Calibri"/>
              </a:rPr>
              <a:t>Log Summary</a:t>
            </a:r>
          </a:p>
        </p:txBody>
      </p:sp>
      <p:cxnSp>
        <p:nvCxnSpPr>
          <p:cNvPr id="38" name="Connector 37"/>
          <p:cNvCxnSpPr/>
          <p:nvPr/>
        </p:nvCxnSpPr>
        <p:spPr>
          <a:xfrm flipH="1">
            <a:off x="3200400" y="4732020"/>
            <a:ext cx="320040" cy="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227832" y="4439412"/>
            <a:ext cx="265176" cy="219456"/>
          </a:xfrm>
          <a:prstGeom prst="rect">
            <a:avLst/>
          </a:prstGeom>
          <a:solidFill>
            <a:srgbClr val="FFFFFF"/>
          </a:solidFill>
          <a:ln>
            <a:noFill/>
          </a:ln>
        </p:spPr>
        <p:txBody>
          <a:bodyPr wrap="square" lIns="18288" rIns="18288" tIns="0" bIns="0">
            <a:spAutoFit/>
          </a:bodyPr>
          <a:lstStyle/>
          <a:p>
            <a:pPr algn="ctr"/>
            <a:r>
              <a:rPr sz="750" b="0">
                <a:solidFill>
                  <a:srgbClr val="333333"/>
                </a:solidFill>
                <a:latin typeface="Calibri"/>
              </a:rPr>
              <a:t>Email</a:t>
            </a:r>
          </a:p>
        </p:txBody>
      </p:sp>
      <p:cxnSp>
        <p:nvCxnSpPr>
          <p:cNvPr id="40" name="Connector 39"/>
          <p:cNvCxnSpPr/>
          <p:nvPr/>
        </p:nvCxnSpPr>
        <p:spPr>
          <a:xfrm flipH="1">
            <a:off x="1417319" y="4732020"/>
            <a:ext cx="320041" cy="0"/>
          </a:xfrm>
          <a:prstGeom prst="line">
            <a:avLst/>
          </a:prstGeom>
          <a:ln w="15875">
            <a:solidFill>
              <a:srgbClr val="1B4FA8"/>
            </a:solidFill>
            <a:tailEnd type="triangle" w="med" len="med"/>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417319" y="1714500"/>
            <a:ext cx="0" cy="3017520"/>
          </a:xfrm>
          <a:prstGeom prst="line">
            <a:avLst/>
          </a:prstGeom>
          <a:ln w="15875">
            <a:solidFill>
              <a:srgbClr val="1B4FA8"/>
            </a:solidFill>
            <a:tailEnd type="triangle" w="med" len="med"/>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17319" y="1714500"/>
            <a:ext cx="320041" cy="0"/>
          </a:xfrm>
          <a:prstGeom prst="line">
            <a:avLst/>
          </a:prstGeom>
          <a:ln w="15875">
            <a:solidFill>
              <a:srgbClr val="1B4FA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20040" y="2903220"/>
            <a:ext cx="1234440" cy="640080"/>
          </a:xfrm>
          <a:prstGeom prst="rect">
            <a:avLst/>
          </a:prstGeom>
          <a:noFill/>
        </p:spPr>
        <p:txBody>
          <a:bodyPr wrap="square" lIns="18288" rIns="18288" tIns="0" bIns="0">
            <a:spAutoFit/>
          </a:bodyPr>
          <a:lstStyle/>
          <a:p>
            <a:pPr algn="ctr"/>
            <a:r>
              <a:rPr sz="700" b="0">
                <a:solidFill>
                  <a:srgbClr val="333333"/>
                </a:solidFill>
                <a:latin typeface="Calibri"/>
              </a:rPr>
              <a:t>Completion
Notification</a:t>
            </a:r>
          </a:p>
        </p:txBody>
      </p:sp>
      <p:sp>
        <p:nvSpPr>
          <p:cNvPr id="44" name="TextBox 43"/>
          <p:cNvSpPr txBox="1"/>
          <p:nvPr/>
        </p:nvSpPr>
        <p:spPr>
          <a:xfrm>
            <a:off x="1737360" y="5276088"/>
            <a:ext cx="914400" cy="201168"/>
          </a:xfrm>
          <a:prstGeom prst="rect">
            <a:avLst/>
          </a:prstGeom>
          <a:noFill/>
        </p:spPr>
        <p:txBody>
          <a:bodyPr wrap="square" lIns="18288" rIns="18288" tIns="0" bIns="0">
            <a:spAutoFit/>
          </a:bodyPr>
          <a:lstStyle/>
          <a:p>
            <a:pPr algn="l"/>
            <a:r>
              <a:rPr sz="900" b="1">
                <a:solidFill>
                  <a:srgbClr val="333333"/>
                </a:solidFill>
                <a:latin typeface="Calibri"/>
              </a:rPr>
              <a:t>LEGEND</a:t>
            </a:r>
          </a:p>
        </p:txBody>
      </p:sp>
      <p:sp>
        <p:nvSpPr>
          <p:cNvPr id="45" name="Rectangle 44"/>
          <p:cNvSpPr/>
          <p:nvPr/>
        </p:nvSpPr>
        <p:spPr>
          <a:xfrm>
            <a:off x="1737360" y="5532120"/>
            <a:ext cx="256032" cy="182880"/>
          </a:xfrm>
          <a:prstGeom prst="rect">
            <a:avLst/>
          </a:prstGeom>
          <a:solidFill>
            <a:srgbClr val="EAF1FE"/>
          </a:solidFill>
          <a:ln w="12700">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48255" y="5513832"/>
            <a:ext cx="1188720" cy="228600"/>
          </a:xfrm>
          <a:prstGeom prst="rect">
            <a:avLst/>
          </a:prstGeom>
          <a:noFill/>
        </p:spPr>
        <p:txBody>
          <a:bodyPr wrap="square" lIns="18288" rIns="18288" tIns="0" bIns="0">
            <a:spAutoFit/>
          </a:bodyPr>
          <a:lstStyle/>
          <a:p>
            <a:pPr algn="l"/>
            <a:r>
              <a:rPr sz="800" b="0">
                <a:solidFill>
                  <a:srgbClr val="333333"/>
                </a:solidFill>
                <a:latin typeface="Calibri"/>
              </a:rPr>
              <a:t>External Entity</a:t>
            </a:r>
          </a:p>
        </p:txBody>
      </p:sp>
      <p:sp>
        <p:nvSpPr>
          <p:cNvPr id="47" name="Rounded Rectangle 46"/>
          <p:cNvSpPr/>
          <p:nvPr/>
        </p:nvSpPr>
        <p:spPr>
          <a:xfrm>
            <a:off x="3337560" y="5532120"/>
            <a:ext cx="256032" cy="182880"/>
          </a:xfrm>
          <a:prstGeom prst="roundRect">
            <a:avLst/>
          </a:prstGeom>
          <a:solidFill>
            <a:srgbClr val="FFFFFF"/>
          </a:solidFill>
          <a:ln w="12700">
            <a:solidFill>
              <a:srgbClr val="1B4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48456" y="5513832"/>
            <a:ext cx="1188720" cy="228600"/>
          </a:xfrm>
          <a:prstGeom prst="rect">
            <a:avLst/>
          </a:prstGeom>
          <a:noFill/>
        </p:spPr>
        <p:txBody>
          <a:bodyPr wrap="square" lIns="18288" rIns="18288" tIns="0" bIns="0">
            <a:spAutoFit/>
          </a:bodyPr>
          <a:lstStyle/>
          <a:p>
            <a:pPr algn="l"/>
            <a:r>
              <a:rPr sz="800" b="0">
                <a:solidFill>
                  <a:srgbClr val="333333"/>
                </a:solidFill>
                <a:latin typeface="Calibri"/>
              </a:rPr>
              <a:t>Process</a:t>
            </a:r>
          </a:p>
        </p:txBody>
      </p:sp>
      <p:sp>
        <p:nvSpPr>
          <p:cNvPr id="49" name="Rectangle 48"/>
          <p:cNvSpPr/>
          <p:nvPr/>
        </p:nvSpPr>
        <p:spPr>
          <a:xfrm>
            <a:off x="4937760" y="5532120"/>
            <a:ext cx="256032" cy="182880"/>
          </a:xfrm>
          <a:prstGeom prst="rect">
            <a:avLst/>
          </a:prstGeom>
          <a:solidFill>
            <a:srgbClr val="EAF9E7"/>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48656" y="5513832"/>
            <a:ext cx="1188720" cy="228600"/>
          </a:xfrm>
          <a:prstGeom prst="rect">
            <a:avLst/>
          </a:prstGeom>
          <a:noFill/>
        </p:spPr>
        <p:txBody>
          <a:bodyPr wrap="square" lIns="18288" rIns="18288" tIns="0" bIns="0">
            <a:spAutoFit/>
          </a:bodyPr>
          <a:lstStyle/>
          <a:p>
            <a:pPr algn="l"/>
            <a:r>
              <a:rPr sz="800" b="0">
                <a:solidFill>
                  <a:srgbClr val="333333"/>
                </a:solidFill>
                <a:latin typeface="Calibri"/>
              </a:rPr>
              <a:t>Data Store</a:t>
            </a:r>
          </a:p>
        </p:txBody>
      </p:sp>
      <p:cxnSp>
        <p:nvCxnSpPr>
          <p:cNvPr id="51" name="Connector 50"/>
          <p:cNvCxnSpPr/>
          <p:nvPr/>
        </p:nvCxnSpPr>
        <p:spPr>
          <a:xfrm>
            <a:off x="6537960" y="5623559"/>
            <a:ext cx="457200" cy="0"/>
          </a:xfrm>
          <a:prstGeom prst="line">
            <a:avLst/>
          </a:prstGeom>
          <a:ln w="15875">
            <a:solidFill>
              <a:srgbClr val="1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040880" y="5513832"/>
            <a:ext cx="914400" cy="228600"/>
          </a:xfrm>
          <a:prstGeom prst="rect">
            <a:avLst/>
          </a:prstGeom>
          <a:noFill/>
        </p:spPr>
        <p:txBody>
          <a:bodyPr wrap="square" lIns="18288" rIns="18288" tIns="0" bIns="0">
            <a:spAutoFit/>
          </a:bodyPr>
          <a:lstStyle/>
          <a:p>
            <a:pPr algn="l"/>
            <a:r>
              <a:rPr sz="800" b="0">
                <a:solidFill>
                  <a:srgbClr val="333333"/>
                </a:solidFill>
                <a:latin typeface="Calibri"/>
              </a:rPr>
              <a:t>Data Flow</a:t>
            </a:r>
          </a:p>
        </p:txBody>
      </p:sp>
      <p:cxnSp>
        <p:nvCxnSpPr>
          <p:cNvPr id="53" name="Connector 52"/>
          <p:cNvCxnSpPr/>
          <p:nvPr/>
        </p:nvCxnSpPr>
        <p:spPr>
          <a:xfrm>
            <a:off x="8092440" y="5623559"/>
            <a:ext cx="457200" cy="0"/>
          </a:xfrm>
          <a:prstGeom prst="line">
            <a:avLst/>
          </a:prstGeom>
          <a:ln w="15875">
            <a:solidFill>
              <a:srgbClr val="1B4FA8"/>
            </a:solidFill>
            <a:tailEnd type="triangle" w="med" len="med"/>
            <a:prstDash val="dash"/>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595360" y="5513832"/>
            <a:ext cx="1097280" cy="228600"/>
          </a:xfrm>
          <a:prstGeom prst="rect">
            <a:avLst/>
          </a:prstGeom>
          <a:noFill/>
        </p:spPr>
        <p:txBody>
          <a:bodyPr wrap="square" lIns="18288" rIns="18288" tIns="0" bIns="0">
            <a:spAutoFit/>
          </a:bodyPr>
          <a:lstStyle/>
          <a:p>
            <a:pPr algn="l"/>
            <a:r>
              <a:rPr sz="800" b="0">
                <a:solidFill>
                  <a:srgbClr val="333333"/>
                </a:solidFill>
                <a:latin typeface="Calibri"/>
              </a:rPr>
              <a:t>Error/Log Flow</a:t>
            </a:r>
          </a:p>
        </p:txBody>
      </p:sp>
    </p:spTree>
    <p:extLst>
      <p:ext uri="{BB962C8B-B14F-4D97-AF65-F5344CB8AC3E}">
        <p14:creationId xmlns:p14="http://schemas.microsoft.com/office/powerpoint/2010/main" val="2052819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542</Words>
  <Application>Microsoft Office PowerPoint</Application>
  <PresentationFormat>Widescreen</PresentationFormat>
  <Paragraphs>39</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Meiryo UI</vt:lpstr>
      <vt:lpstr>Aptos</vt:lpstr>
      <vt:lpstr>Aptos Display</vt:lpstr>
      <vt:lpstr>Arial</vt:lpstr>
      <vt:lpstr>Nissan Pro Regular</vt:lpstr>
      <vt:lpstr>NissanAG-Bold</vt:lpstr>
      <vt:lpstr>Office Theme</vt:lpstr>
      <vt:lpstr>5. Sequence Diagram- Prod</vt:lpstr>
      <vt:lpstr>6. Data flow diagram</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AKHAURI KSHITIZ</dc:creator>
  <cp:lastModifiedBy>AKHAURI KSHITIZ</cp:lastModifiedBy>
  <cp:revision>1</cp:revision>
  <dcterms:created xsi:type="dcterms:W3CDTF">2026-08-10T06:41:39Z</dcterms:created>
  <dcterms:modified xsi:type="dcterms:W3CDTF">2026-08-10T06:42:00Z</dcterms:modified>
</cp:coreProperties>
</file>