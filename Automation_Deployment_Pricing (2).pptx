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monthly cost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2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Power Apps
(25 users, Premium)</c:v>
                  </c:pt>
                  <c:pt idx="1">
                    <c:v>Power BI + Gateway
(10 users)</c:v>
                  </c:pt>
                  <c:pt idx="2">
                    <c:v>AWS Full-Stack
(small prod)</c:v>
                  </c:pt>
                  <c:pt idx="3">
                    <c:v>Lambda + S3
(light use)</c:v>
                  </c:pt>
                  <c:pt idx="4">
                    <c:v>Azure Functions
(light use)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240</c:v>
                </c:pt>
                <c:pt idx="2">
                  <c:v>140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2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8C"/>
                    </a:solidFill>
                    <a:latin typeface="Arial"/>
                  </a:rPr>
                  <a:t>USD /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DEPLOYMENT &amp; PRICING PLAYBOOK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automation projects by platform, effort, free/included tiers &amp; premium cost — from citizen-developer apps to full-stack agentic systems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52928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852928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50008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SAP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5776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65776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Full-Stack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78624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278624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75704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S3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91472" y="4892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491472" y="4892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88552" y="54955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FP&amp;A / Agentic AI Automation Program   |   Estimates as of July 2026, USD list pricing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Deployment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delivery tiers, scaling platform and cost with the complexity of the use case.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4904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52728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Apps / Power Platform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Citizen-developer forms &amp; approvals. Often free via Microsoft 365; Premium license only if the project needs it.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40080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34056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9584" y="1490472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62072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SAP / Gateway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80360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FP&amp;A dashboards. Free for personal authoring; Pro/PPU + gateway if sharing SAP/on-prem data org-wide.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916936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17" name="Text 15"/>
          <p:cNvSpPr/>
          <p:nvPr/>
        </p:nvSpPr>
        <p:spPr>
          <a:xfrm>
            <a:off x="2916936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COMPLEXITY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10912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14904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38928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FastAPI + PostgreSQL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57216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agentic AI, RAG or heavy-logic applications needing full control — hosted on AWS EC2.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193792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193792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87768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83296" y="1490472"/>
            <a:ext cx="548640" cy="54864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083296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15784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 + S3 Trigger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34072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micro-automation that fires when a file lands in S3 — no server to run or patch.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470648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02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470648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/ AWS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64624" y="1234440"/>
            <a:ext cx="2139696" cy="475488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360152" y="1490472"/>
            <a:ext cx="548640" cy="548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34" name="Text 32"/>
          <p:cNvSpPr/>
          <p:nvPr/>
        </p:nvSpPr>
        <p:spPr>
          <a:xfrm>
            <a:off x="10360152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92640" y="2194560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Functions + Blob Storage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710928" y="306324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 equivalent of Lambda — for teams standardized on Microsoft/Azure infrastructure.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9747504" y="544068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/>
        </p:spPr>
      </p:sp>
      <p:sp>
        <p:nvSpPr>
          <p:cNvPr id="38" name="Text 36"/>
          <p:cNvSpPr/>
          <p:nvPr/>
        </p:nvSpPr>
        <p:spPr>
          <a:xfrm>
            <a:off x="9747504" y="544068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/ AZURE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 / Power Apps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841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citizen-developer forms, approvals, light workflow apps with a known internal user base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Internal-facing app, small-to-medium user count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 can own / extend it (low-code)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trackers, intake forms, simple workflow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— upgrade only when the project needs Dataverse, premium connectors, or an external (non-M365) data source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— Free vs Premium</a:t>
            </a:r>
            <a:endParaRPr lang="en-US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60920" cy="2880360"/>
        </p:xfrm>
        <a:graphic>
          <a:graphicData uri="http://schemas.openxmlformats.org/drawingml/2006/table">
            <a:tbl>
              <a:tblPr/>
              <a:tblGrid>
                <a:gridCol w="2606040"/>
                <a:gridCol w="192024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INCLUDED — no extra license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5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Basic (seeded)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w/ most M365/O365 plans (not F1); apps on M365 data, standard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Developer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Individual, non-production dev/test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— only if the project requires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Premium (per user)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for Dataverse, premium connectors, unlimited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tier (2,000+ seats)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Enterprise-scale 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Platform Requests add-on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/ mo per 10K extra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daily API entitlement is exceeded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43400" y="4663440"/>
            <a:ext cx="7360920" cy="109728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Example scenario: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25 users need Dataverse + premium connectors → Power Apps Premium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0" y="5257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$500 / month  ·  ≈ $6,000 / year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SAP / On-Premises Gateway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841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executive &amp; FP&amp;A dashboards that must read from SAP, SQL Server or other on-prem sources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0F6E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Reporting-first use case (dashboards, KPIs)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is SAP BW/HANA or on-prem SQL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Desktop/free for personal analysis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Pro/PPU only when the project needs org-wide sharing, a gateway, or datasets &gt; 1GB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— Free vs Premium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783080"/>
          <a:ext cx="7360920" cy="2880360"/>
        </p:xfrm>
        <a:graphic>
          <a:graphicData uri="http://schemas.openxmlformats.org/drawingml/2006/table">
            <a:tbl>
              <a:tblPr/>
              <a:tblGrid>
                <a:gridCol w="2606040"/>
                <a:gridCol w="192024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INCLUDED — no extra license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5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Desktop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authoring; no sharing/collaboration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Pro via Microsoft 365 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Pro license if org holds M365 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— only if the project requires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Pro (standalone)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to publish &amp; share reports org-wide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Premium Per User (PPU)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 / user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for datasets &gt; 1GB, XMLA,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Data Gateway (VM/server)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$70 – 150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SAP/on-prem connectivity, any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43400" y="4663440"/>
            <a:ext cx="7360920" cy="109728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Example scenario: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</a:rPr>
              <a:t>10 users need org-wide sharing + SAP gateway → Pro + Gateway VM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0" y="5257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$240 / month  ·  ≈ $2,880 / year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FastAPI + PostgreSQL on AWS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custom agentic AI / RAG apps and heavy-logic systems that need full architectural control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5B6B8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8288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+ ALB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8288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828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8288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21240" y="1828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02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1828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(files/logs)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2376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55480" y="233172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43200" y="31546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— logs, metrics &amp; alarms across EC2 / RDS / ALB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this tier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LangGraph/CrewAI or RAG pipelines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UI/UX beyond what low-code allows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dedicated database &amp; API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25196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across multiple systems (SAP, Nissan/ABB feeds)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full CI/CD, security and scaling decisions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too complex for Power Platform limits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Cost Breakdown — Full-Stack Deployment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Single-region, single-AZ estimate — us-east-1, on-demand list pricing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58000" cy="324612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1463040"/>
              </a:tblGrid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app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t3.medium (2 vCPU / 4 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db.t3.medium, single-AZ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$52 – 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/ gp3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50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 –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ALB + LCU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$16 –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(files, backups, logs)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 –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transfer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 GB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 –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(logs &amp; metrics)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 –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IP + Route 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domain, 1 hosted 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 –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37160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production (single AZ)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1828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$115 – 165 / month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77240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$1,400 – 2,000 / year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292608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(Multi-AZ + NAT GW)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3383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$300 – 450 / month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772400" y="3931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$3,600 – 5,400 / year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0" y="4251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once the app is business-critical or usage scales beyond a pilot.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80060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61C4A"/>
          </a:solidFill>
          <a:ln w="12700">
            <a:solidFill>
              <a:srgbClr val="05A8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9377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— EC2 / RDS Is Sized Per Application, Not Shared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5800" y="52578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application/project gets its own dedicated EC2 + RDS stack — isolated, not a shared multi-tenant server. The breakdown above is per application; total infra cost scales roughly linearly with how many apps run concurrently. Small/low-traffic apps can share one right-sized instance behind separate routes if isolation isn't required.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58704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 ≈ $115–165/mo    ·    2 apps ≈ $230–330/mo    ·    3 apps ≈ $345–495/mo    ·    5 apps ≈ $575–825/mo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2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 + S3 — Micro-Automations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small, sporadic, event-driven jobs that don't justify a running server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S3 bucket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Lambda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processes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(parse / transform)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691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S3 / DB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Cost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667512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A89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 per 1M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$0.0000166667 per GB-second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free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requests + 400,000 GB-seconds free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 per GB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requests (PUT/GET)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$0.005 per 1,000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292608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light workload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2668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runs/month · 512MB · ~10s each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2668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– 5 / month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726680" y="4572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covered by the AWS free tier — cost only grows with invocation volume.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patch or pay for when idle — scales to zero.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Functions + Blob Storage — Micro-Automations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the same lightweight, event-driven jobs — for teams standardized on Microsoft/Azure infrastructure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F6F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trigger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Function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processes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(parse / transform)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6916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F6E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691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Blob / DB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 notify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321040" y="2148840"/>
            <a:ext cx="36576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Cost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667512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executions (Consumption)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 per 1M executions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$0.000016 per GB-second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free grant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executions + 400,000 GB-s free / subscription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Storage (Hot tier)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$0.02 per GB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$0.004 per 10,000 operations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292608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light workload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2668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runs/month · 512MB · ~10s each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26680" y="3886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– 5 / month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726680" y="4572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covered by the Azure free grant — nearly identical economics to Lambda + S3.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this over Lambda when the estate is Azure/Microsoft-centric or needs tight Power Platform integration.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Comparison Across Deployment Tiers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monthly cost for one illustrative scenario per tier (see prior slides for assumptions)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17320"/>
          <a:ext cx="114300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figures are illustrative list-price estimates and will vary with user counts, data volume and negotiated/EA pricing. Free tiers (Power Apps Basic, Power BI Desktop) are $0 and not shown.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Fits Your Project?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classifying a new automation ask into the right delivery tier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480560"/>
        </p:xfrm>
        <a:graphic>
          <a:graphicData uri="http://schemas.openxmlformats.org/drawingml/2006/table">
            <a:tbl>
              <a:tblPr/>
              <a:tblGrid>
                <a:gridCol w="713232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Characteristic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internal form/approval; fits Microsoft 365 data — no premium features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(Free/Basic)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but needs Dataverse or premium connectors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Premium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Executive/FP&amp;A dashboard reading from SAP / on-prem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+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agentic AI, RAG pipeline, or heavy business logic needing full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React + FastAPI + PostgreSQL (AWS)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or infrequent job triggered by a file landing in 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AWS Lambda + S3 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but the team/estate is standardized on Azure/Microsoft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Azure Functions + Blob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Deployment &amp; Pricing Playbook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Estimated Monthly Cost by Tier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680960" cy="34290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1737360"/>
              </a:tblGrid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Annual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(Free/Basic tier)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Power Apps Premium (25 users)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Desktop/Free (personal)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Power BI Pro + Gateway (10 users)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$2,880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AWS Full-Stack (small prod)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$115 – 165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$1,400 – 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Lambda + S3 (light use)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Azure Functions + Blob (light use)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$0 – 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6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4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188720"/>
            <a:ext cx="2926080" cy="3429000"/>
          </a:xfrm>
          <a:prstGeom prst="roundRect">
            <a:avLst>
              <a:gd name="adj" fmla="val 2500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91540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scale with: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15400" y="173736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seat count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&amp; refresh rate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needs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volume discounts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project actually needs premium features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800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US list-price, on-demand estimates as of July 2026 — exclude tax, existing Microsoft/AWS enterprise agreements, implementation effort, and support labor. Validate against current pricing pages before budgeting.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5532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A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978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pipeline / backlog item into one of the five tiers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the free/included option; upgrade only when the project's requirements demand 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AWS/Azure resources after a 2–3 month usage baseline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2026-07-28T07:11:38Z</dcterms:created>
  <dcterms:modified xsi:type="dcterms:W3CDTF">2026-07-28T07:11:38Z</dcterms:modified>
</cp:coreProperties>
</file>