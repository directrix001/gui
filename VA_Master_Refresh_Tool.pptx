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VA Master Refresh automation: the problem, the solution, time saved, and how the tool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46304" cy="246888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 |  FP&amp;A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Master Refresh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30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Tool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43000" y="4343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multi-hour monthly variance-analysis refresh into a few-minute, one-click run.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Analysis  ·  Forecast 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Refreshing the VA master is slow, manual and risky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external links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each link must be re-pointed to that month's source file — one by one through Excel's Edit Links.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6472" y="2240280"/>
            <a:ext cx="640080" cy="64008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1" name="Text 9"/>
          <p:cNvSpPr/>
          <p:nvPr/>
        </p:nvSpPr>
        <p:spPr>
          <a:xfrm>
            <a:off x="3776472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0752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Month-column shifting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30752" y="36576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comparison sheet the three month columns have to be moved to the new month's position by hand.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64224" y="192024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38544" y="2240280"/>
            <a:ext cx="640080" cy="64008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6" name="Text 14"/>
          <p:cNvSpPr/>
          <p:nvPr/>
        </p:nvSpPr>
        <p:spPr>
          <a:xfrm>
            <a:off x="6638544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92824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juggling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2824" y="36576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MTD / YTD / quarterly sheets must be shown and the rest hidden for every scenario.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26296" y="192024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0616" y="2240280"/>
            <a:ext cx="640080" cy="64008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21" name="Text 19"/>
          <p:cNvSpPr/>
          <p:nvPr/>
        </p:nvSpPr>
        <p:spPr>
          <a:xfrm>
            <a:off x="950061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54896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Error-prone &amp; repetitive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54896" y="36576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wrong link or column breaks the numbers silently — and it repeats every close.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an analyst is tied up every month on mechanical work that must be perfect.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monthly process, done by hand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331720"/>
            <a:ext cx="640080" cy="64008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44-sheet master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61488" y="2560320"/>
            <a:ext cx="201168" cy="182880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9" name="Shape 7"/>
          <p:cNvSpPr/>
          <p:nvPr/>
        </p:nvSpPr>
        <p:spPr>
          <a:xfrm>
            <a:off x="2999232" y="20574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2331720"/>
            <a:ext cx="640080" cy="64008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36392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Re-point 44 links to new month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20640" y="2560320"/>
            <a:ext cx="201168" cy="182880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14" name="Shape 12"/>
          <p:cNvSpPr/>
          <p:nvPr/>
        </p:nvSpPr>
        <p:spPr>
          <a:xfrm>
            <a:off x="5358384" y="20574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2331720"/>
            <a:ext cx="640080" cy="64008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95544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month columns per sheet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79792" y="2560320"/>
            <a:ext cx="201168" cy="182880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17536" y="20574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2331720"/>
            <a:ext cx="640080" cy="64008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21" name="Text 19"/>
          <p:cNvSpPr/>
          <p:nvPr/>
        </p:nvSpPr>
        <p:spPr>
          <a:xfrm>
            <a:off x="8449056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54696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scenario sheets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38944" y="2560320"/>
            <a:ext cx="201168" cy="182880"/>
          </a:xfrm>
          <a:prstGeom prst="rightArrow">
            <a:avLst/>
          </a:prstGeom>
          <a:solidFill>
            <a:srgbClr val="9AA0A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76688" y="2057400"/>
            <a:ext cx="2103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08208" y="2331720"/>
            <a:ext cx="640080" cy="640080"/>
          </a:xfrm>
          <a:prstGeom prst="ellipse">
            <a:avLst/>
          </a:prstGeom>
          <a:solidFill>
            <a:srgbClr val="B06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808208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213848" y="31089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 &amp; eyeball for errors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443484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" y="4709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</a:t>
            </a:r>
            <a:pPr indent="0" marL="0">
              <a:buNone/>
            </a:pPr>
            <a:r>
              <a:rPr lang="en-US" sz="1500" b="1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</a:t>
            </a:r>
            <a:pPr indent="0" marL="0">
              <a:buNone/>
            </a:pPr>
            <a:r>
              <a:rPr lang="en-US" sz="15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for </a:t>
            </a:r>
            <a:pPr indent="0" marL="0">
              <a:buNone/>
            </a:pPr>
            <a:r>
              <a:rPr lang="en-US" sz="1500" b="1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</a:t>
            </a:r>
            <a:pPr indent="0" marL="0">
              <a:buNone/>
            </a:pPr>
            <a:r>
              <a:rPr lang="en-US" sz="15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across </a:t>
            </a:r>
            <a:pPr indent="0" marL="0">
              <a:buNone/>
            </a:pPr>
            <a:r>
              <a:rPr lang="en-US" sz="1500" b="1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sheets &amp; 44 links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5212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mis-mapped link or off-by-one column change silently corrupts the variance numbers — hard to spot, costly to catch late.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tool. Pick, click, done.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desktop app that refreshes the master for any month and scenario — automatically, and safely.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154680"/>
            <a:ext cx="502920" cy="50292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389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a memory-safe XML engine — no heavy libraries, no big-file crashes.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02152" y="288036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8184" y="3154680"/>
            <a:ext cx="502920" cy="50292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1" name="Text 9"/>
          <p:cNvSpPr/>
          <p:nvPr/>
        </p:nvSpPr>
        <p:spPr>
          <a:xfrm>
            <a:off x="3730752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 per run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4389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selected scenario refreshed into a single clean workbook.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64224" y="288036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0256" y="3154680"/>
            <a:ext cx="502920" cy="50292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5" name="Text 13"/>
          <p:cNvSpPr/>
          <p:nvPr/>
        </p:nvSpPr>
        <p:spPr>
          <a:xfrm>
            <a:off x="6592824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handled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92824" y="4389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44 links re-pointed to your input folder — cell references never touched.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226296" y="2880360"/>
            <a:ext cx="2697480" cy="3200400"/>
          </a:xfrm>
          <a:prstGeom prst="roundRect">
            <a:avLst>
              <a:gd name="adj" fmla="val 3051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2328" y="3154680"/>
            <a:ext cx="502920" cy="50292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9" name="Text 17"/>
          <p:cNvSpPr/>
          <p:nvPr/>
        </p:nvSpPr>
        <p:spPr>
          <a:xfrm>
            <a:off x="9454896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built 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54896" y="438912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report logs every change; references are verified unchanged.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fully automated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777240" cy="77724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585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month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7432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'Summary month'!E2 is set — the workbook's own formulas cascade the quarter and periods.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73368" y="196596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7688" y="2258568"/>
            <a:ext cx="777240" cy="7772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1" name="Text 9"/>
          <p:cNvSpPr/>
          <p:nvPr/>
        </p:nvSpPr>
        <p:spPr>
          <a:xfrm>
            <a:off x="6647688" y="22585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07808" y="22402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the columns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07808" y="27432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scenario's month columns move to the picked month's position — detected per sheet.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15968"/>
            <a:ext cx="777240" cy="77724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15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74520" y="42976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Re-point the links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800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44 links point to your input folder; both stored paths rewritten, cell refs preserved.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73368" y="4023360"/>
            <a:ext cx="55321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47688" y="4315968"/>
            <a:ext cx="777240" cy="7772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43159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07808" y="42976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&amp; prove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07808" y="48006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recalc + link update on open, and write a report confirming references are unchanged.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of manual work → minutes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hrs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per analyst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links, column edits, sheet toggling and checking.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3383280"/>
            <a:ext cx="685800" cy="548640"/>
          </a:xfrm>
          <a:prstGeom prst="rightArrow">
            <a:avLst/>
          </a:prstGeom>
          <a:solidFill>
            <a:srgbClr val="C3002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0" y="1965960"/>
            <a:ext cx="3383280" cy="3566160"/>
          </a:xfrm>
          <a:prstGeom prst="roundRect">
            <a:avLst>
              <a:gd name="adj" fmla="val 2432"/>
            </a:avLst>
          </a:prstGeom>
          <a:solidFill>
            <a:srgbClr val="C3002F"/>
          </a:solidFill>
          <a:ln/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6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651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min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521208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run, hands-off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41605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C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month + scenarios, click Generate, review the report.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1965960"/>
            <a:ext cx="3017520" cy="3566160"/>
          </a:xfrm>
          <a:prstGeom prst="roundRect">
            <a:avLst>
              <a:gd name="adj" fmla="val 2727"/>
            </a:avLst>
          </a:prstGeom>
          <a:solidFill>
            <a:srgbClr val="1B1B1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32520" y="24688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~95%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7325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the refresh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32520" y="3977640"/>
            <a:ext cx="2468880" cy="0"/>
          </a:xfrm>
          <a:prstGeom prst="line">
            <a:avLst/>
          </a:prstGeom>
          <a:noFill/>
          <a:ln w="12700">
            <a:solidFill>
              <a:srgbClr val="3A3F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4114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verified every run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4846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re-load link mapping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— replace with your measured before/after times.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handles for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94560"/>
            <a:ext cx="457200" cy="45720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176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auto-detect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every MTD/YTD, quarterly (QTD) and fixed-period sheet — nothing missed.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194560"/>
            <a:ext cx="457200" cy="45720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2176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&amp; map links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each link to a file in your folder; groups Priority vs lower-priority.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85632" y="2194560"/>
            <a:ext cx="457200" cy="45720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21762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Per-sheet shift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5632" y="2788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shifts to the exact month picked — 9 of 10 fully automated.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206240"/>
            <a:ext cx="457200" cy="45720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4187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safety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800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3,802 external references verified byte-identical every run.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93192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4206240"/>
            <a:ext cx="457200" cy="45720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4187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formulas kept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90872" y="4800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INDEX/MATCH lookups (ranges) are preserved, never shifted.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85632" y="4206240"/>
            <a:ext cx="457200" cy="45720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4187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report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85632" y="4800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plain-text log of the month, every shift and every link change.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five-step screen — top to bottom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715768"/>
            <a:ext cx="502920" cy="50292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15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4655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215384"/>
            <a:ext cx="502920" cy="50292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2153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folder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965192"/>
            <a:ext cx="502920" cy="502920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965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 + Scan &amp; 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806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is pinned to a fixed footer, so it's always reachable.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1920240"/>
            <a:ext cx="6446520" cy="1965960"/>
          </a:xfrm>
          <a:prstGeom prst="roundRect">
            <a:avLst>
              <a:gd name="adj" fmla="val 2791"/>
            </a:avLst>
          </a:prstGeom>
          <a:solidFill>
            <a:srgbClr val="ECEFF2"/>
          </a:solidFill>
          <a:ln w="1905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978140" y="23088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70164" y="2446020"/>
            <a:ext cx="256032" cy="219456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04038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screenshot: main window (steps 01–04)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4920" y="4069080"/>
            <a:ext cx="6446520" cy="1965960"/>
          </a:xfrm>
          <a:prstGeom prst="roundRect">
            <a:avLst>
              <a:gd name="adj" fmla="val 2791"/>
            </a:avLst>
          </a:prstGeom>
          <a:solidFill>
            <a:srgbClr val="ECEFF2"/>
          </a:solidFill>
          <a:ln w="19050">
            <a:solidFill>
              <a:srgbClr val="9AA0A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978140" y="44577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70164" y="4594860"/>
            <a:ext cx="256032" cy="219456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5189220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screenshot: Scan &amp; map — Priority / lower links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TRUSTED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Tested, not hoped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06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44/44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classified — none missed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2152" y="22860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2606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85032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verified unchanged every run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64224" y="22860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606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547104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scenarios shift correct, all months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26296" y="2286000"/>
            <a:ext cx="2697480" cy="2286000"/>
          </a:xfrm>
          <a:prstGeom prst="roundRect">
            <a:avLst>
              <a:gd name="adj" fmla="val 3600"/>
            </a:avLst>
          </a:prstGeom>
          <a:solidFill>
            <a:srgbClr val="2B2F3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63456" y="2606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30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409176" y="36118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C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repair prompts — opens clean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LY is the one scenario left unshifted (it references two month positions) — it's flagged in the run report, not silently wrong.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0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670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21945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 scenarios, all links, fixed-formula protection, mandatory link refresh.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84448"/>
            <a:ext cx="594360" cy="594360"/>
          </a:xfrm>
          <a:prstGeom prst="ellipse">
            <a:avLst/>
          </a:prstGeom>
          <a:solidFill>
            <a:srgbClr val="B06000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3493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9684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349300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Block-aware shift to bring LY fully in; add-new-scenario cloning.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08576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A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82896"/>
            <a:ext cx="594360" cy="59436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47914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5266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4791456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deployment (scheduled / shared run) so the team triggers it without manual setup.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46304" cy="182880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4688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monthly chore to a one-click run.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70432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closes · fewer errors · a process anyone on the team can run with confidence.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FP&amp;A  ·  VA Master Refresh Automation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2026-07-16T04:42:22Z</dcterms:created>
  <dcterms:modified xsi:type="dcterms:W3CDTF">2026-07-16T04:42:22Z</dcterms:modified>
</cp:coreProperties>
</file>