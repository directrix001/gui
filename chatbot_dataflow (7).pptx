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41C2C"/>
                </a:solidFill>
                <a:latin typeface="Arial"/>
              </a:rPr>
              <a:t>Chatbot Data-Flow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B6B75"/>
                </a:solidFill>
                <a:latin typeface="Arial"/>
              </a:rPr>
              <a:t>The Router is the manager: it reads the question and assigns the right agents. Agents pull from the databases; the Synthesizer writes the answer.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1645920" cy="914400"/>
          </a:xfrm>
          <a:prstGeom prst="roundRect">
            <a:avLst/>
          </a:prstGeom>
          <a:solidFill>
            <a:srgbClr val="041C2C"/>
          </a:solidFill>
          <a:ln w="12700">
            <a:solidFill>
              <a:srgbClr val="D5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USER</a:t>
            </a:r>
          </a:p>
          <a:p>
            <a:pPr algn="ctr"/>
            <a:r>
              <a:rPr sz="850">
                <a:solidFill>
                  <a:srgbClr val="D5DCE1"/>
                </a:solidFill>
                <a:latin typeface="Arial"/>
              </a:rPr>
              <a:t>Asks a question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57400" y="1508760"/>
            <a:ext cx="411480" cy="0"/>
          </a:xfrm>
          <a:prstGeom prst="line">
            <a:avLst/>
          </a:prstGeom>
          <a:ln w="27940">
            <a:solidFill>
              <a:srgbClr val="FF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514600" y="1051560"/>
            <a:ext cx="1737360" cy="9144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5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1100" b="1">
                <a:solidFill>
                  <a:srgbClr val="041C2C"/>
                </a:solidFill>
                <a:latin typeface="Arial"/>
              </a:rPr>
              <a:t>GUARDRAILS</a:t>
            </a:r>
          </a:p>
          <a:p>
            <a:pPr algn="ctr"/>
            <a:r>
              <a:rPr sz="850">
                <a:solidFill>
                  <a:srgbClr val="5B6B75"/>
                </a:solidFill>
                <a:latin typeface="Arial"/>
              </a:rPr>
              <a:t>Scope + safety check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0" y="1508760"/>
            <a:ext cx="411480" cy="0"/>
          </a:xfrm>
          <a:prstGeom prst="line">
            <a:avLst/>
          </a:prstGeom>
          <a:ln w="27940">
            <a:solidFill>
              <a:srgbClr val="FF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54880" y="914400"/>
            <a:ext cx="2286000" cy="1234440"/>
          </a:xfrm>
          <a:prstGeom prst="roundRect">
            <a:avLst/>
          </a:prstGeom>
          <a:solidFill>
            <a:srgbClr val="041C2C"/>
          </a:solidFill>
          <a:ln w="12700">
            <a:solidFill>
              <a:srgbClr val="FF5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ROUTER  (manager)</a:t>
            </a:r>
          </a:p>
          <a:p>
            <a:pPr algn="ctr"/>
            <a:r>
              <a:rPr sz="850">
                <a:solidFill>
                  <a:srgbClr val="D5DCE1"/>
                </a:solidFill>
                <a:latin typeface="Arial"/>
              </a:rPr>
              <a:t>Reads the question,</a:t>
            </a:r>
          </a:p>
          <a:p>
            <a:pPr algn="ctr"/>
            <a:r>
              <a:rPr sz="850">
                <a:solidFill>
                  <a:srgbClr val="D5DCE1"/>
                </a:solidFill>
                <a:latin typeface="Arial"/>
              </a:rPr>
              <a:t>picks the intent, and</a:t>
            </a:r>
          </a:p>
          <a:p>
            <a:pPr algn="ctr"/>
            <a:r>
              <a:rPr sz="850">
                <a:solidFill>
                  <a:srgbClr val="D5DCE1"/>
                </a:solidFill>
                <a:latin typeface="Arial"/>
              </a:rPr>
              <a:t>assigns the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88920"/>
            <a:ext cx="2468880" cy="1280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5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1100" b="1">
                <a:solidFill>
                  <a:srgbClr val="041C2C"/>
                </a:solidFill>
                <a:latin typeface="Arial"/>
              </a:rPr>
              <a:t>SQL AGENT</a:t>
            </a:r>
          </a:p>
          <a:p>
            <a:pPr algn="ctr"/>
            <a:r>
              <a:rPr sz="850">
                <a:solidFill>
                  <a:srgbClr val="5B6B75"/>
                </a:solidFill>
                <a:latin typeface="Arial"/>
              </a:rPr>
              <a:t>Writes safe read-only</a:t>
            </a:r>
          </a:p>
          <a:p>
            <a:pPr algn="ctr"/>
            <a:r>
              <a:rPr sz="850">
                <a:solidFill>
                  <a:srgbClr val="5B6B75"/>
                </a:solidFill>
                <a:latin typeface="Arial"/>
              </a:rPr>
              <a:t>SQL over the factor DBs.</a:t>
            </a:r>
          </a:p>
          <a:p>
            <a:pPr algn="ctr"/>
            <a:r>
              <a:rPr sz="850">
                <a:solidFill>
                  <a:srgbClr val="5B6B75"/>
                </a:solidFill>
                <a:latin typeface="Arial"/>
              </a:rPr>
              <a:t>Shows query + 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788920"/>
            <a:ext cx="2468880" cy="1280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5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1100" b="1">
                <a:solidFill>
                  <a:srgbClr val="041C2C"/>
                </a:solidFill>
                <a:latin typeface="Arial"/>
              </a:rPr>
              <a:t>EVENTS + WEB</a:t>
            </a:r>
          </a:p>
          <a:p>
            <a:pPr algn="ctr"/>
            <a:r>
              <a:rPr sz="850">
                <a:solidFill>
                  <a:srgbClr val="5B6B75"/>
                </a:solidFill>
                <a:latin typeface="Arial"/>
              </a:rPr>
              <a:t>Linked events (+/-1 mo)</a:t>
            </a:r>
          </a:p>
          <a:p>
            <a:pPr algn="ctr"/>
            <a:r>
              <a:rPr sz="850">
                <a:solidFill>
                  <a:srgbClr val="5B6B75"/>
                </a:solidFill>
                <a:latin typeface="Arial"/>
              </a:rPr>
              <a:t>+ optional web snippets</a:t>
            </a:r>
          </a:p>
          <a:p>
            <a:pPr algn="ctr"/>
            <a:r>
              <a:rPr sz="850">
                <a:solidFill>
                  <a:srgbClr val="5B6B75"/>
                </a:solidFill>
                <a:latin typeface="Arial"/>
              </a:rPr>
              <a:t>for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788920"/>
            <a:ext cx="2468880" cy="1280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5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1100" b="1">
                <a:solidFill>
                  <a:srgbClr val="041C2C"/>
                </a:solidFill>
                <a:latin typeface="Arial"/>
              </a:rPr>
              <a:t>CORRELATOR</a:t>
            </a:r>
          </a:p>
          <a:p>
            <a:pPr algn="ctr"/>
            <a:r>
              <a:rPr sz="850">
                <a:solidFill>
                  <a:srgbClr val="5B6B75"/>
                </a:solidFill>
                <a:latin typeface="Arial"/>
              </a:rPr>
              <a:t>Matches evidence to the</a:t>
            </a:r>
          </a:p>
          <a:p>
            <a:pPr algn="ctr"/>
            <a:r>
              <a:rPr sz="850">
                <a:solidFill>
                  <a:srgbClr val="5B6B75"/>
                </a:solidFill>
                <a:latin typeface="Arial"/>
              </a:rPr>
              <a:t>exact month + factor.</a:t>
            </a:r>
          </a:p>
          <a:p>
            <a:pPr algn="ctr"/>
            <a:r>
              <a:rPr sz="850">
                <a:solidFill>
                  <a:srgbClr val="5B6B75"/>
                </a:solidFill>
                <a:latin typeface="Arial"/>
              </a:rPr>
              <a:t>Grades strong / weak.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788920"/>
            <a:ext cx="2468880" cy="1280160"/>
          </a:xfrm>
          <a:prstGeom prst="roundRect">
            <a:avLst/>
          </a:prstGeom>
          <a:solidFill>
            <a:srgbClr val="041C2C"/>
          </a:solidFill>
          <a:ln w="12700">
            <a:solidFill>
              <a:srgbClr val="D5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SYNTHESIZER</a:t>
            </a:r>
          </a:p>
          <a:p>
            <a:pPr algn="ctr"/>
            <a:r>
              <a:rPr sz="850">
                <a:solidFill>
                  <a:srgbClr val="D5DCE1"/>
                </a:solidFill>
                <a:latin typeface="Arial"/>
              </a:rPr>
              <a:t>LLM writes the answer</a:t>
            </a:r>
          </a:p>
          <a:p>
            <a:pPr algn="ctr"/>
            <a:r>
              <a:rPr sz="850">
                <a:solidFill>
                  <a:srgbClr val="D5DCE1"/>
                </a:solidFill>
                <a:latin typeface="Arial"/>
              </a:rPr>
              <a:t>from evidence only.</a:t>
            </a:r>
          </a:p>
          <a:p>
            <a:pPr algn="ctr"/>
            <a:r>
              <a:rPr sz="850">
                <a:solidFill>
                  <a:srgbClr val="D5DCE1"/>
                </a:solidFill>
                <a:latin typeface="Arial"/>
              </a:rPr>
              <a:t>Streamed to screen.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600200" y="2148840"/>
            <a:ext cx="4297680" cy="640080"/>
          </a:xfrm>
          <a:prstGeom prst="line">
            <a:avLst/>
          </a:prstGeom>
          <a:ln w="17780">
            <a:solidFill>
              <a:srgbClr val="5B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251960" y="2148840"/>
            <a:ext cx="1645920" cy="640080"/>
          </a:xfrm>
          <a:prstGeom prst="line">
            <a:avLst/>
          </a:prstGeom>
          <a:ln w="17780">
            <a:solidFill>
              <a:srgbClr val="5B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97880" y="2148840"/>
            <a:ext cx="1005840" cy="640080"/>
          </a:xfrm>
          <a:prstGeom prst="line">
            <a:avLst/>
          </a:prstGeom>
          <a:ln w="17780">
            <a:solidFill>
              <a:srgbClr val="5B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97880" y="2148840"/>
            <a:ext cx="3657600" cy="640080"/>
          </a:xfrm>
          <a:prstGeom prst="line">
            <a:avLst/>
          </a:prstGeom>
          <a:ln w="17780">
            <a:solidFill>
              <a:srgbClr val="5B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" y="233172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5B6B75"/>
                </a:solidFill>
                <a:latin typeface="Arial"/>
              </a:rPr>
              <a:t>Router assigns agents (trace order: sql &gt; events &gt; web &gt; correlator &gt; synthesizer)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34640" y="3429000"/>
            <a:ext cx="182880" cy="0"/>
          </a:xfrm>
          <a:prstGeom prst="line">
            <a:avLst/>
          </a:prstGeom>
          <a:ln w="22860">
            <a:solidFill>
              <a:srgbClr val="FF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0" y="3429000"/>
            <a:ext cx="182880" cy="0"/>
          </a:xfrm>
          <a:prstGeom prst="line">
            <a:avLst/>
          </a:prstGeom>
          <a:ln w="22860">
            <a:solidFill>
              <a:srgbClr val="FF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138160" y="3429000"/>
            <a:ext cx="182880" cy="0"/>
          </a:xfrm>
          <a:prstGeom prst="line">
            <a:avLst/>
          </a:prstGeom>
          <a:ln w="22860">
            <a:solidFill>
              <a:srgbClr val="FF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00200" y="4069079"/>
            <a:ext cx="0" cy="502921"/>
          </a:xfrm>
          <a:prstGeom prst="line">
            <a:avLst/>
          </a:prstGeom>
          <a:ln w="22860">
            <a:solidFill>
              <a:srgbClr val="5B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" y="44348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41C2C"/>
                </a:solidFill>
                <a:latin typeface="Arial"/>
              </a:rPr>
              <a:t>DATABASES</a:t>
            </a:r>
          </a:p>
        </p:txBody>
      </p:sp>
      <p:sp>
        <p:nvSpPr>
          <p:cNvPr id="23" name="Can 22"/>
          <p:cNvSpPr/>
          <p:nvPr/>
        </p:nvSpPr>
        <p:spPr>
          <a:xfrm>
            <a:off x="365760" y="4754880"/>
            <a:ext cx="1325880" cy="640080"/>
          </a:xfrm>
          <a:prstGeom prst="can">
            <a:avLst/>
          </a:prstGeom>
          <a:solidFill>
            <a:srgbClr val="E7ECEF"/>
          </a:solidFill>
          <a:ln w="12700">
            <a:solidFill>
              <a:srgbClr val="04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41C2C"/>
                </a:solidFill>
                <a:latin typeface="Arial"/>
              </a:rPr>
              <a:t>lme.db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431536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B6B75"/>
                </a:solidFill>
                <a:latin typeface="Arial"/>
              </a:rPr>
              <a:t>LME base price</a:t>
            </a:r>
          </a:p>
          <a:p>
            <a:pPr algn="ctr"/>
            <a:r>
              <a:rPr sz="750" b="0" i="0">
                <a:solidFill>
                  <a:srgbClr val="5B6B75"/>
                </a:solidFill>
                <a:latin typeface="Arial"/>
              </a:rPr>
              <a:t>($/lb), month PK</a:t>
            </a:r>
          </a:p>
        </p:txBody>
      </p:sp>
      <p:sp>
        <p:nvSpPr>
          <p:cNvPr id="25" name="Can 24"/>
          <p:cNvSpPr/>
          <p:nvPr/>
        </p:nvSpPr>
        <p:spPr>
          <a:xfrm>
            <a:off x="1847088" y="4754880"/>
            <a:ext cx="1325880" cy="640080"/>
          </a:xfrm>
          <a:prstGeom prst="can">
            <a:avLst/>
          </a:prstGeom>
          <a:solidFill>
            <a:srgbClr val="E7ECEF"/>
          </a:solidFill>
          <a:ln w="12700">
            <a:solidFill>
              <a:srgbClr val="04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41C2C"/>
                </a:solidFill>
                <a:latin typeface="Arial"/>
              </a:rPr>
              <a:t>midwest_premium.db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5431536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B6B75"/>
                </a:solidFill>
                <a:latin typeface="Arial"/>
              </a:rPr>
              <a:t>US Midwest premium</a:t>
            </a:r>
          </a:p>
          <a:p>
            <a:pPr algn="ctr"/>
            <a:r>
              <a:rPr sz="750" b="0" i="0">
                <a:solidFill>
                  <a:srgbClr val="5B6B75"/>
                </a:solidFill>
                <a:latin typeface="Arial"/>
              </a:rPr>
              <a:t>($/lb), month PK</a:t>
            </a:r>
          </a:p>
        </p:txBody>
      </p:sp>
      <p:sp>
        <p:nvSpPr>
          <p:cNvPr id="27" name="Can 26"/>
          <p:cNvSpPr/>
          <p:nvPr/>
        </p:nvSpPr>
        <p:spPr>
          <a:xfrm>
            <a:off x="3328416" y="4754880"/>
            <a:ext cx="1325880" cy="640080"/>
          </a:xfrm>
          <a:prstGeom prst="can">
            <a:avLst/>
          </a:prstGeom>
          <a:solidFill>
            <a:srgbClr val="E7ECEF"/>
          </a:solidFill>
          <a:ln w="12700">
            <a:solidFill>
              <a:srgbClr val="04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41C2C"/>
                </a:solidFill>
                <a:latin typeface="Arial"/>
              </a:rPr>
              <a:t>gas.db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" y="5431536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B6B75"/>
                </a:solidFill>
                <a:latin typeface="Arial"/>
              </a:rPr>
              <a:t>CNG cost</a:t>
            </a:r>
          </a:p>
          <a:p>
            <a:pPr algn="ctr"/>
            <a:r>
              <a:rPr sz="750" b="0" i="0">
                <a:solidFill>
                  <a:srgbClr val="5B6B75"/>
                </a:solidFill>
                <a:latin typeface="Arial"/>
              </a:rPr>
              <a:t>($/lb), month PK</a:t>
            </a:r>
          </a:p>
        </p:txBody>
      </p:sp>
      <p:sp>
        <p:nvSpPr>
          <p:cNvPr id="29" name="Can 28"/>
          <p:cNvSpPr/>
          <p:nvPr/>
        </p:nvSpPr>
        <p:spPr>
          <a:xfrm>
            <a:off x="4809744" y="4754880"/>
            <a:ext cx="1325880" cy="640080"/>
          </a:xfrm>
          <a:prstGeom prst="can">
            <a:avLst/>
          </a:prstGeom>
          <a:solidFill>
            <a:srgbClr val="E7ECEF"/>
          </a:solidFill>
          <a:ln w="12700">
            <a:solidFill>
              <a:srgbClr val="04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41C2C"/>
                </a:solidFill>
                <a:latin typeface="Arial"/>
              </a:rPr>
              <a:t>labour.db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8304" y="5431536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5B6B75"/>
                </a:solidFill>
                <a:latin typeface="Arial"/>
              </a:rPr>
              <a:t>PPI index</a:t>
            </a:r>
          </a:p>
          <a:p>
            <a:pPr algn="ctr"/>
            <a:r>
              <a:rPr sz="750" b="0" i="0">
                <a:solidFill>
                  <a:srgbClr val="5B6B75"/>
                </a:solidFill>
                <a:latin typeface="Arial"/>
              </a:rPr>
              <a:t>(dimensionless)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754880"/>
            <a:ext cx="2194560" cy="12344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5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1100" b="1">
                <a:solidFill>
                  <a:srgbClr val="041C2C"/>
                </a:solidFill>
                <a:latin typeface="Arial"/>
              </a:rPr>
              <a:t>master.db</a:t>
            </a:r>
          </a:p>
          <a:p>
            <a:pPr algn="ctr"/>
            <a:r>
              <a:rPr sz="800">
                <a:solidFill>
                  <a:srgbClr val="5B6B75"/>
                </a:solidFill>
                <a:latin typeface="Arial"/>
              </a:rPr>
              <a:t>Shared tables: factors,</a:t>
            </a:r>
          </a:p>
          <a:p>
            <a:pPr algn="ctr"/>
            <a:r>
              <a:rPr sz="800">
                <a:solidFill>
                  <a:srgbClr val="5B6B75"/>
                </a:solidFill>
                <a:latin typeface="Arial"/>
              </a:rPr>
              <a:t>events + event_factors,</a:t>
            </a:r>
          </a:p>
          <a:p>
            <a:pPr algn="ctr"/>
            <a:r>
              <a:rPr sz="800">
                <a:solidFill>
                  <a:srgbClr val="5B6B75"/>
                </a:solidFill>
                <a:latin typeface="Arial"/>
              </a:rPr>
              <a:t>price_comparison (FRED vs LME),</a:t>
            </a:r>
          </a:p>
          <a:p>
            <a:pPr algn="ctr"/>
            <a:r>
              <a:rPr sz="800">
                <a:solidFill>
                  <a:srgbClr val="5B6B75"/>
                </a:solidFill>
                <a:latin typeface="Arial"/>
              </a:rPr>
              <a:t>news articles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32520" y="4754880"/>
            <a:ext cx="1417320" cy="12344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5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1100" b="1">
                <a:solidFill>
                  <a:srgbClr val="041C2C"/>
                </a:solidFill>
                <a:latin typeface="Arial"/>
              </a:rPr>
              <a:t>feedback.db</a:t>
            </a:r>
          </a:p>
          <a:p>
            <a:pPr algn="ctr"/>
            <a:r>
              <a:rPr sz="800">
                <a:solidFill>
                  <a:srgbClr val="5B6B75"/>
                </a:solidFill>
                <a:latin typeface="Arial"/>
              </a:rPr>
              <a:t>Thumbs up/down</a:t>
            </a:r>
          </a:p>
          <a:p>
            <a:pPr algn="ctr"/>
            <a:r>
              <a:rPr sz="800">
                <a:solidFill>
                  <a:srgbClr val="5B6B75"/>
                </a:solidFill>
                <a:latin typeface="Arial"/>
              </a:rPr>
              <a:t>on chat answers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87000" y="4754880"/>
            <a:ext cx="1508760" cy="1234440"/>
          </a:xfrm>
          <a:prstGeom prst="roundRect">
            <a:avLst/>
          </a:prstGeom>
          <a:solidFill>
            <a:srgbClr val="FCE9EA"/>
          </a:solidFill>
          <a:ln w="12700">
            <a:solidFill>
              <a:srgbClr val="FF5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1000" b="1">
                <a:solidFill>
                  <a:srgbClr val="9B2C2C"/>
                </a:solidFill>
                <a:latin typeface="Arial"/>
              </a:rPr>
              <a:t>aluminium_data</a:t>
            </a:r>
          </a:p>
          <a:p>
            <a:pPr algn="ctr"/>
            <a:r>
              <a:rPr sz="800">
                <a:solidFill>
                  <a:srgbClr val="9B2C2C"/>
                </a:solidFill>
                <a:latin typeface="Arial"/>
              </a:rPr>
              <a:t>Parts + market data</a:t>
            </a:r>
          </a:p>
          <a:p>
            <a:pPr algn="ctr"/>
            <a:r>
              <a:rPr sz="800">
                <a:solidFill>
                  <a:srgbClr val="9B2C2C"/>
                </a:solidFill>
                <a:latin typeface="Arial"/>
              </a:rPr>
              <a:t>for the Forecast</a:t>
            </a:r>
          </a:p>
          <a:p>
            <a:pPr algn="ctr"/>
            <a:r>
              <a:rPr sz="800">
                <a:solidFill>
                  <a:srgbClr val="9B2C2C"/>
                </a:solidFill>
                <a:latin typeface="Arial"/>
              </a:rPr>
              <a:t>engines (formula + ML)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0533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5B6B75"/>
                </a:solidFill>
                <a:latin typeface="Arial"/>
              </a:rPr>
              <a:t>The 4 factor DBs are joined into one view (monthly_values) for the SQL Agent.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