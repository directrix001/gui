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201168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41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Aluminum Assistant — Chatbot Data-Flow Architecture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10744200" y="237744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41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genpact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1905488" y="310896"/>
            <a:ext cx="109728" cy="109728"/>
          </a:xfrm>
          <a:prstGeom prst="ellipse">
            <a:avLst/>
          </a:prstGeom>
          <a:solidFill>
            <a:srgbClr val="FF555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365760" y="621792"/>
            <a:ext cx="6217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 retrieval (SQL over factor DBs) → correlation → LLM synthesis → streamed answer. Numbers come from SQL; the model only narrates.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1371600" cy="868680"/>
          </a:xfrm>
          <a:prstGeom prst="roundRect">
            <a:avLst>
              <a:gd name="adj" fmla="val 8421"/>
            </a:avLst>
          </a:prstGeom>
          <a:solidFill>
            <a:srgbClr val="041C2C"/>
          </a:solidFill>
          <a:ln w="12700">
            <a:solidFill>
              <a:srgbClr val="D5DCE1"/>
            </a:solidFill>
            <a:prstDash val="solid"/>
          </a:ln>
          <a:effectLst>
            <a:outerShdw sx="100000" sy="100000" kx="0" ky="0" algn="bl" rotWithShape="0" blurRad="50800" dist="25400" dir="5400000">
              <a:srgbClr val="B9C4CB">
                <a:alpha val="40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438912" y="1152144"/>
            <a:ext cx="1225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38912" y="1426464"/>
            <a:ext cx="122529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C9D3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 a</a:t>
            </a:r>
            <a:endParaRPr lang="en-US" sz="900" dirty="0"/>
          </a:p>
          <a:p>
            <a:pPr algn="ctr"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C9D3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in</a:t>
            </a:r>
            <a:endParaRPr lang="en-US" sz="900" dirty="0"/>
          </a:p>
          <a:p>
            <a:pPr algn="ctr"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C9D3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chat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783080" y="1527048"/>
            <a:ext cx="548640" cy="0"/>
          </a:xfrm>
          <a:prstGeom prst="line">
            <a:avLst/>
          </a:prstGeom>
          <a:noFill/>
          <a:ln w="27940">
            <a:solidFill>
              <a:srgbClr val="FF555F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377440" y="1097280"/>
            <a:ext cx="1417320" cy="868680"/>
          </a:xfrm>
          <a:prstGeom prst="roundRect">
            <a:avLst>
              <a:gd name="adj" fmla="val 8421"/>
            </a:avLst>
          </a:prstGeom>
          <a:solidFill>
            <a:srgbClr val="FCE9EA"/>
          </a:solidFill>
          <a:ln w="12700">
            <a:solidFill>
              <a:srgbClr val="FF555F"/>
            </a:solidFill>
            <a:prstDash val="solid"/>
          </a:ln>
          <a:effectLst>
            <a:outerShdw sx="100000" sy="100000" kx="0" ky="0" algn="bl" rotWithShape="0" blurRad="50800" dist="25400" dir="5400000">
              <a:srgbClr val="B9C4CB">
                <a:alpha val="40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2450592" y="1152144"/>
            <a:ext cx="1271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9B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GUARDRAILS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2450592" y="1408176"/>
            <a:ext cx="12710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850" dirty="0">
                <a:solidFill>
                  <a:srgbClr val="9B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Injection scan +</a:t>
            </a:r>
            <a:endParaRPr lang="en-US" sz="85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850" dirty="0">
                <a:solidFill>
                  <a:srgbClr val="9B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 check.</a:t>
            </a:r>
            <a:endParaRPr lang="en-US" sz="85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850" dirty="0">
                <a:solidFill>
                  <a:srgbClr val="9B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Off-topic → refuse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840480" y="1527048"/>
            <a:ext cx="548640" cy="0"/>
          </a:xfrm>
          <a:prstGeom prst="line">
            <a:avLst/>
          </a:prstGeom>
          <a:noFill/>
          <a:ln w="27940">
            <a:solidFill>
              <a:srgbClr val="FF555F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434840" y="1097280"/>
            <a:ext cx="1828800" cy="868680"/>
          </a:xfrm>
          <a:prstGeom prst="roundRect">
            <a:avLst>
              <a:gd name="adj" fmla="val 8421"/>
            </a:avLst>
          </a:prstGeom>
          <a:solidFill>
            <a:srgbClr val="041C2C"/>
          </a:solidFill>
          <a:ln w="12700">
            <a:solidFill>
              <a:srgbClr val="D5DCE1"/>
            </a:solidFill>
            <a:prstDash val="solid"/>
          </a:ln>
          <a:effectLst>
            <a:outerShdw sx="100000" sy="100000" kx="0" ky="0" algn="bl" rotWithShape="0" blurRad="50800" dist="25400" dir="5400000">
              <a:srgbClr val="B9C4CB">
                <a:alpha val="40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4507992" y="1152144"/>
            <a:ext cx="1682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ROUTER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4507992" y="1408176"/>
            <a:ext cx="16824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850" dirty="0">
                <a:solidFill>
                  <a:srgbClr val="C9D3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Keyword + regex → 1 of 6 intents</a:t>
            </a:r>
            <a:endParaRPr lang="en-US" sz="850" dirty="0"/>
          </a:p>
          <a:p>
            <a:pPr algn="ctr" indent="0" marL="0">
              <a:lnSpc>
                <a:spcPct val="102000"/>
              </a:lnSpc>
              <a:buNone/>
            </a:pPr>
            <a:r>
              <a:rPr lang="en-US" sz="850" dirty="0">
                <a:solidFill>
                  <a:srgbClr val="C9D3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(+ extract month)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6720840" y="594360"/>
            <a:ext cx="2514600" cy="402336"/>
          </a:xfrm>
          <a:prstGeom prst="roundRect">
            <a:avLst>
              <a:gd name="adj" fmla="val 18182"/>
            </a:avLst>
          </a:prstGeom>
          <a:solidFill>
            <a:srgbClr val="F7F9FA"/>
          </a:solidFill>
          <a:ln w="12700">
            <a:solidFill>
              <a:srgbClr val="D5DCE1"/>
            </a:solidFill>
            <a:prstDash val="solid"/>
          </a:ln>
          <a:effectLst>
            <a:outerShdw sx="100000" sy="100000" kx="0" ky="0" algn="bl" rotWithShape="0" blurRad="50800" dist="25400" dir="5400000">
              <a:srgbClr val="B9C4CB">
                <a:alpha val="40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6793992" y="649224"/>
            <a:ext cx="2368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41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MOVEMENT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7863840" y="640080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“why did it move?”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6263640" y="1527048"/>
            <a:ext cx="457200" cy="-731520"/>
          </a:xfrm>
          <a:prstGeom prst="line">
            <a:avLst/>
          </a:prstGeom>
          <a:noFill/>
          <a:ln w="12700">
            <a:solidFill>
              <a:srgbClr val="C4CED4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6720840" y="1065276"/>
            <a:ext cx="2514600" cy="402336"/>
          </a:xfrm>
          <a:prstGeom prst="roundRect">
            <a:avLst>
              <a:gd name="adj" fmla="val 18182"/>
            </a:avLst>
          </a:prstGeom>
          <a:solidFill>
            <a:srgbClr val="F7F9FA"/>
          </a:solidFill>
          <a:ln w="12700">
            <a:solidFill>
              <a:srgbClr val="D5DCE1"/>
            </a:solidFill>
            <a:prstDash val="solid"/>
          </a:ln>
          <a:effectLst>
            <a:outerShdw sx="100000" sy="100000" kx="0" ky="0" algn="bl" rotWithShape="0" blurRad="50800" dist="25400" dir="5400000">
              <a:srgbClr val="B9C4CB">
                <a:alpha val="40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6793992" y="1120140"/>
            <a:ext cx="2368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41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7863840" y="1110996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QoQ / MoM / YoY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6263640" y="1527048"/>
            <a:ext cx="457200" cy="-260604"/>
          </a:xfrm>
          <a:prstGeom prst="line">
            <a:avLst/>
          </a:prstGeom>
          <a:noFill/>
          <a:ln w="12700">
            <a:solidFill>
              <a:srgbClr val="C4CED4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6720840" y="1536192"/>
            <a:ext cx="2514600" cy="402336"/>
          </a:xfrm>
          <a:prstGeom prst="roundRect">
            <a:avLst>
              <a:gd name="adj" fmla="val 18182"/>
            </a:avLst>
          </a:prstGeom>
          <a:solidFill>
            <a:srgbClr val="F7F9FA"/>
          </a:solidFill>
          <a:ln w="12700">
            <a:solidFill>
              <a:srgbClr val="D5DCE1"/>
            </a:solidFill>
            <a:prstDash val="solid"/>
          </a:ln>
          <a:effectLst>
            <a:outerShdw sx="100000" sy="100000" kx="0" ky="0" algn="bl" rotWithShape="0" blurRad="50800" dist="25400" dir="5400000">
              <a:srgbClr val="B9C4CB">
                <a:alpha val="40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6793992" y="1591056"/>
            <a:ext cx="2368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41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7863840" y="1581912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/ top / avg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6263640" y="1527048"/>
            <a:ext cx="457200" cy="210312"/>
          </a:xfrm>
          <a:prstGeom prst="line">
            <a:avLst/>
          </a:prstGeom>
          <a:noFill/>
          <a:ln w="12700">
            <a:solidFill>
              <a:srgbClr val="C4CED4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6720840" y="2007108"/>
            <a:ext cx="2514600" cy="402336"/>
          </a:xfrm>
          <a:prstGeom prst="roundRect">
            <a:avLst>
              <a:gd name="adj" fmla="val 18182"/>
            </a:avLst>
          </a:prstGeom>
          <a:solidFill>
            <a:srgbClr val="F7F9FA"/>
          </a:solidFill>
          <a:ln w="12700">
            <a:solidFill>
              <a:srgbClr val="D5DCE1"/>
            </a:solidFill>
            <a:prstDash val="solid"/>
          </a:ln>
          <a:effectLst>
            <a:outerShdw sx="100000" sy="100000" kx="0" ky="0" algn="bl" rotWithShape="0" blurRad="50800" dist="25400" dir="5400000">
              <a:srgbClr val="B9C4CB">
                <a:alpha val="40000"/>
              </a:srgbClr>
            </a:outerShdw>
          </a:effectLst>
        </p:spPr>
      </p:sp>
      <p:sp>
        <p:nvSpPr>
          <p:cNvPr id="30" name="Text 28"/>
          <p:cNvSpPr txBox="1"/>
          <p:nvPr/>
        </p:nvSpPr>
        <p:spPr>
          <a:xfrm>
            <a:off x="6793992" y="2061972"/>
            <a:ext cx="2368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41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HISTORICAL</a:t>
            </a:r>
            <a:endParaRPr lang="en-US" sz="950" dirty="0"/>
          </a:p>
        </p:txBody>
      </p:sp>
      <p:sp>
        <p:nvSpPr>
          <p:cNvPr id="31" name="Text 29"/>
          <p:cNvSpPr txBox="1"/>
          <p:nvPr/>
        </p:nvSpPr>
        <p:spPr>
          <a:xfrm>
            <a:off x="7863840" y="2052828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in a month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6263640" y="1527048"/>
            <a:ext cx="457200" cy="681228"/>
          </a:xfrm>
          <a:prstGeom prst="line">
            <a:avLst/>
          </a:prstGeom>
          <a:noFill/>
          <a:ln w="12700">
            <a:solidFill>
              <a:srgbClr val="C4CED4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6720840" y="2478024"/>
            <a:ext cx="2514600" cy="402336"/>
          </a:xfrm>
          <a:prstGeom prst="roundRect">
            <a:avLst>
              <a:gd name="adj" fmla="val 18182"/>
            </a:avLst>
          </a:prstGeom>
          <a:solidFill>
            <a:srgbClr val="F7F9FA"/>
          </a:solidFill>
          <a:ln w="12700">
            <a:solidFill>
              <a:srgbClr val="D5DCE1"/>
            </a:solidFill>
            <a:prstDash val="solid"/>
          </a:ln>
          <a:effectLst>
            <a:outerShdw sx="100000" sy="100000" kx="0" ky="0" algn="bl" rotWithShape="0" blurRad="50800" dist="25400" dir="5400000">
              <a:srgbClr val="B9C4CB">
                <a:alpha val="40000"/>
              </a:srgbClr>
            </a:outerShdw>
          </a:effectLst>
        </p:spPr>
      </p:sp>
      <p:sp>
        <p:nvSpPr>
          <p:cNvPr id="34" name="Text 32"/>
          <p:cNvSpPr txBox="1"/>
          <p:nvPr/>
        </p:nvSpPr>
        <p:spPr>
          <a:xfrm>
            <a:off x="6793992" y="2532888"/>
            <a:ext cx="2368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41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VARIANCE</a:t>
            </a:r>
            <a:endParaRPr lang="en-US" sz="950" dirty="0"/>
          </a:p>
        </p:txBody>
      </p:sp>
      <p:sp>
        <p:nvSpPr>
          <p:cNvPr id="35" name="Text 33"/>
          <p:cNvSpPr txBox="1"/>
          <p:nvPr/>
        </p:nvSpPr>
        <p:spPr>
          <a:xfrm>
            <a:off x="7863840" y="2523744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FRED vs LME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6263640" y="1527048"/>
            <a:ext cx="457200" cy="1152144"/>
          </a:xfrm>
          <a:prstGeom prst="line">
            <a:avLst/>
          </a:prstGeom>
          <a:noFill/>
          <a:ln w="12700">
            <a:solidFill>
              <a:srgbClr val="C4CED4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6720840" y="2948940"/>
            <a:ext cx="2514600" cy="402336"/>
          </a:xfrm>
          <a:prstGeom prst="roundRect">
            <a:avLst>
              <a:gd name="adj" fmla="val 18182"/>
            </a:avLst>
          </a:prstGeom>
          <a:solidFill>
            <a:srgbClr val="F7F9FA"/>
          </a:solidFill>
          <a:ln w="12700">
            <a:solidFill>
              <a:srgbClr val="D5DCE1"/>
            </a:solidFill>
            <a:prstDash val="solid"/>
          </a:ln>
          <a:effectLst>
            <a:outerShdw sx="100000" sy="100000" kx="0" ky="0" algn="bl" rotWithShape="0" blurRad="50800" dist="25400" dir="5400000">
              <a:srgbClr val="B9C4CB">
                <a:alpha val="40000"/>
              </a:srgbClr>
            </a:outerShdw>
          </a:effectLst>
        </p:spPr>
      </p:sp>
      <p:sp>
        <p:nvSpPr>
          <p:cNvPr id="38" name="Text 36"/>
          <p:cNvSpPr txBox="1"/>
          <p:nvPr/>
        </p:nvSpPr>
        <p:spPr>
          <a:xfrm>
            <a:off x="6793992" y="3003804"/>
            <a:ext cx="2368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41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PREDICTION</a:t>
            </a:r>
            <a:endParaRPr lang="en-US" sz="950" dirty="0"/>
          </a:p>
        </p:txBody>
      </p:sp>
      <p:sp>
        <p:nvSpPr>
          <p:cNvPr id="39" name="Text 37"/>
          <p:cNvSpPr txBox="1"/>
          <p:nvPr/>
        </p:nvSpPr>
        <p:spPr>
          <a:xfrm>
            <a:off x="7863840" y="2994660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forecast / outlook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6263640" y="1527048"/>
            <a:ext cx="457200" cy="1623060"/>
          </a:xfrm>
          <a:prstGeom prst="line">
            <a:avLst/>
          </a:prstGeom>
          <a:noFill/>
          <a:ln w="12700">
            <a:solidFill>
              <a:srgbClr val="C4CED4"/>
            </a:solidFill>
            <a:prstDash val="solid"/>
            <a:tailEnd type="triangle"/>
          </a:ln>
        </p:spPr>
      </p:sp>
      <p:sp>
        <p:nvSpPr>
          <p:cNvPr id="41" name="Text 39"/>
          <p:cNvSpPr txBox="1"/>
          <p:nvPr/>
        </p:nvSpPr>
        <p:spPr>
          <a:xfrm>
            <a:off x="6263640" y="201168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800" dirty="0"/>
          </a:p>
        </p:txBody>
      </p:sp>
      <p:sp>
        <p:nvSpPr>
          <p:cNvPr id="42" name="Text 40"/>
          <p:cNvSpPr txBox="1"/>
          <p:nvPr/>
        </p:nvSpPr>
        <p:spPr>
          <a:xfrm>
            <a:off x="365760" y="3246120"/>
            <a:ext cx="11521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41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GATHERING  (the trace: 🧭 router → 🗄️ sql → 📌 events → 🌐 web → 🔗 correlator → ✍️ synthesizer)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365760" y="370332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7780">
            <a:solidFill>
              <a:srgbClr val="041C2C"/>
            </a:solidFill>
            <a:prstDash val="solid"/>
          </a:ln>
          <a:effectLst>
            <a:outerShdw sx="100000" sy="100000" kx="0" ky="0" algn="bl" rotWithShape="0" blurRad="50800" dist="25400" dir="5400000">
              <a:srgbClr val="B9C4CB">
                <a:alpha val="40000"/>
              </a:srgbClr>
            </a:outerShdw>
          </a:effectLst>
        </p:spPr>
      </p:sp>
      <p:sp>
        <p:nvSpPr>
          <p:cNvPr id="44" name="Text 42"/>
          <p:cNvSpPr txBox="1"/>
          <p:nvPr/>
        </p:nvSpPr>
        <p:spPr>
          <a:xfrm>
            <a:off x="438912" y="3758184"/>
            <a:ext cx="2505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41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🗄️ SQL AGENT (text-to-SQL)</a:t>
            </a:r>
            <a:endParaRPr lang="en-US" sz="1050" dirty="0"/>
          </a:p>
        </p:txBody>
      </p:sp>
      <p:sp>
        <p:nvSpPr>
          <p:cNvPr id="45" name="Text 43"/>
          <p:cNvSpPr txBox="1"/>
          <p:nvPr/>
        </p:nvSpPr>
        <p:spPr>
          <a:xfrm>
            <a:off x="438912" y="3995928"/>
            <a:ext cx="250545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850" dirty="0">
                <a:solidFill>
                  <a:srgbClr val="5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writes SQL (or template) →</a:t>
            </a:r>
            <a:endParaRPr lang="en-US" sz="85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850" dirty="0">
                <a:solidFill>
                  <a:srgbClr val="5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validate: SELECT-only, no ;, block</a:t>
            </a:r>
            <a:endParaRPr lang="en-US" sz="85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850" dirty="0">
                <a:solidFill>
                  <a:srgbClr val="5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keywords, force LIMIT → run</a:t>
            </a:r>
            <a:endParaRPr lang="en-US" sz="85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850" dirty="0">
                <a:solidFill>
                  <a:srgbClr val="5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READ-ONLY. Shows SQL + table.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3154680" y="3703320"/>
            <a:ext cx="22860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5B6B75"/>
            </a:solidFill>
            <a:prstDash val="solid"/>
          </a:ln>
          <a:effectLst>
            <a:outerShdw sx="100000" sy="100000" kx="0" ky="0" algn="bl" rotWithShape="0" blurRad="50800" dist="25400" dir="5400000">
              <a:srgbClr val="B9C4CB">
                <a:alpha val="40000"/>
              </a:srgbClr>
            </a:outerShdw>
          </a:effectLst>
        </p:spPr>
      </p:sp>
      <p:sp>
        <p:nvSpPr>
          <p:cNvPr id="47" name="Text 45"/>
          <p:cNvSpPr txBox="1"/>
          <p:nvPr/>
        </p:nvSpPr>
        <p:spPr>
          <a:xfrm>
            <a:off x="3227832" y="3758184"/>
            <a:ext cx="2139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A2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EVENTS + 🌐 WEB</a:t>
            </a:r>
            <a:endParaRPr lang="en-US" sz="1050" dirty="0"/>
          </a:p>
        </p:txBody>
      </p:sp>
      <p:sp>
        <p:nvSpPr>
          <p:cNvPr id="48" name="Text 46"/>
          <p:cNvSpPr txBox="1"/>
          <p:nvPr/>
        </p:nvSpPr>
        <p:spPr>
          <a:xfrm>
            <a:off x="3227832" y="3995928"/>
            <a:ext cx="213969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850" dirty="0">
                <a:solidFill>
                  <a:srgbClr val="5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events_near(±1 mo) joins events</a:t>
            </a:r>
            <a:endParaRPr lang="en-US" sz="85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850" dirty="0">
                <a:solidFill>
                  <a:srgbClr val="5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⋈ event_factors. Web = DuckDuckGo</a:t>
            </a:r>
            <a:endParaRPr lang="en-US" sz="85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850" dirty="0">
                <a:solidFill>
                  <a:srgbClr val="5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snippets (optional, never required).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5577840" y="3703320"/>
            <a:ext cx="22860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6D28D9"/>
            </a:solidFill>
            <a:prstDash val="solid"/>
          </a:ln>
          <a:effectLst>
            <a:outerShdw sx="100000" sy="100000" kx="0" ky="0" algn="bl" rotWithShape="0" blurRad="50800" dist="25400" dir="5400000">
              <a:srgbClr val="B9C4CB">
                <a:alpha val="40000"/>
              </a:srgbClr>
            </a:outerShdw>
          </a:effectLst>
        </p:spPr>
      </p:sp>
      <p:sp>
        <p:nvSpPr>
          <p:cNvPr id="50" name="Text 48"/>
          <p:cNvSpPr txBox="1"/>
          <p:nvPr/>
        </p:nvSpPr>
        <p:spPr>
          <a:xfrm>
            <a:off x="5650992" y="3758184"/>
            <a:ext cx="2139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🔗 CORRELATOR</a:t>
            </a:r>
            <a:endParaRPr lang="en-US" sz="1050" dirty="0"/>
          </a:p>
        </p:txBody>
      </p:sp>
      <p:sp>
        <p:nvSpPr>
          <p:cNvPr id="51" name="Text 49"/>
          <p:cNvSpPr txBox="1"/>
          <p:nvPr/>
        </p:nvSpPr>
        <p:spPr>
          <a:xfrm>
            <a:off x="5650992" y="3995928"/>
            <a:ext cx="213969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850" dirty="0">
                <a:solidFill>
                  <a:srgbClr val="5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Scores each web snippet:</a:t>
            </a:r>
            <a:endParaRPr lang="en-US" sz="85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850" dirty="0">
                <a:solidFill>
                  <a:srgbClr val="5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date-match × factor-match →</a:t>
            </a:r>
            <a:endParaRPr lang="en-US" sz="85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850" dirty="0">
                <a:solidFill>
                  <a:srgbClr val="5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 / weak / unexplained.</a:t>
            </a:r>
            <a:endParaRPr lang="en-US" sz="85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850" dirty="0">
                <a:solidFill>
                  <a:srgbClr val="5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Stops fake causality.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8001000" y="3703320"/>
            <a:ext cx="3794760" cy="1371600"/>
          </a:xfrm>
          <a:prstGeom prst="roundRect">
            <a:avLst>
              <a:gd name="adj" fmla="val 5333"/>
            </a:avLst>
          </a:prstGeom>
          <a:solidFill>
            <a:srgbClr val="041C2C"/>
          </a:solidFill>
          <a:ln w="12700">
            <a:solidFill>
              <a:srgbClr val="D5DCE1"/>
            </a:solidFill>
            <a:prstDash val="solid"/>
          </a:ln>
          <a:effectLst>
            <a:outerShdw sx="100000" sy="100000" kx="0" ky="0" algn="bl" rotWithShape="0" blurRad="50800" dist="25400" dir="5400000">
              <a:srgbClr val="B9C4CB">
                <a:alpha val="40000"/>
              </a:srgbClr>
            </a:outerShdw>
          </a:effectLst>
        </p:spPr>
      </p:sp>
      <p:sp>
        <p:nvSpPr>
          <p:cNvPr id="53" name="Text 51"/>
          <p:cNvSpPr txBox="1"/>
          <p:nvPr/>
        </p:nvSpPr>
        <p:spPr>
          <a:xfrm>
            <a:off x="8074152" y="3758184"/>
            <a:ext cx="3648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✍️ SYNTHESIZER (LLM)</a:t>
            </a:r>
            <a:endParaRPr lang="en-US" sz="1100" dirty="0"/>
          </a:p>
        </p:txBody>
      </p:sp>
      <p:sp>
        <p:nvSpPr>
          <p:cNvPr id="54" name="Text 52"/>
          <p:cNvSpPr txBox="1"/>
          <p:nvPr/>
        </p:nvSpPr>
        <p:spPr>
          <a:xfrm>
            <a:off x="8074152" y="3995928"/>
            <a:ext cx="364845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850" dirty="0">
                <a:solidFill>
                  <a:srgbClr val="C9D3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Gets evidence JSON only (not raw DB).</a:t>
            </a:r>
            <a:endParaRPr lang="en-US" sz="85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850" dirty="0">
                <a:solidFill>
                  <a:srgbClr val="C9D3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Grounding rules: cite [1], admit “unexplained”,</a:t>
            </a:r>
            <a:endParaRPr lang="en-US" sz="85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850" dirty="0">
                <a:solidFill>
                  <a:srgbClr val="C9D3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 with confidence. No key → template answer.</a:t>
            </a:r>
            <a:endParaRPr lang="en-US" sz="85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850" dirty="0">
                <a:solidFill>
                  <a:srgbClr val="C9D3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Streamed word-by-word over SSE → browser.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3017520" y="4389120"/>
            <a:ext cx="137160" cy="0"/>
          </a:xfrm>
          <a:prstGeom prst="line">
            <a:avLst/>
          </a:prstGeom>
          <a:noFill/>
          <a:ln w="20320">
            <a:solidFill>
              <a:srgbClr val="5B6B75"/>
            </a:solidFill>
            <a:prstDash val="solid"/>
            <a:tailEnd type="triangle"/>
          </a:ln>
        </p:spPr>
      </p:sp>
      <p:sp>
        <p:nvSpPr>
          <p:cNvPr id="56" name="Shape 54"/>
          <p:cNvSpPr/>
          <p:nvPr/>
        </p:nvSpPr>
        <p:spPr>
          <a:xfrm>
            <a:off x="5440680" y="4389120"/>
            <a:ext cx="137160" cy="0"/>
          </a:xfrm>
          <a:prstGeom prst="line">
            <a:avLst/>
          </a:prstGeom>
          <a:noFill/>
          <a:ln w="20320">
            <a:solidFill>
              <a:srgbClr val="6D28D9"/>
            </a:solidFill>
            <a:prstDash val="solid"/>
            <a:tailEnd type="triangle"/>
          </a:ln>
        </p:spPr>
      </p:sp>
      <p:sp>
        <p:nvSpPr>
          <p:cNvPr id="57" name="Shape 55"/>
          <p:cNvSpPr/>
          <p:nvPr/>
        </p:nvSpPr>
        <p:spPr>
          <a:xfrm>
            <a:off x="7863840" y="4389120"/>
            <a:ext cx="137160" cy="0"/>
          </a:xfrm>
          <a:prstGeom prst="line">
            <a:avLst/>
          </a:prstGeom>
          <a:noFill/>
          <a:ln w="27940">
            <a:solidFill>
              <a:srgbClr val="FF555F"/>
            </a:solidFill>
            <a:prstDash val="solid"/>
            <a:tailEnd type="triangle"/>
          </a:ln>
        </p:spPr>
      </p:sp>
      <p:sp>
        <p:nvSpPr>
          <p:cNvPr id="58" name="Shape 56"/>
          <p:cNvSpPr/>
          <p:nvPr/>
        </p:nvSpPr>
        <p:spPr>
          <a:xfrm>
            <a:off x="4297680" y="3035808"/>
            <a:ext cx="0" cy="621792"/>
          </a:xfrm>
          <a:prstGeom prst="line">
            <a:avLst/>
          </a:prstGeom>
          <a:noFill/>
          <a:ln w="20320">
            <a:solidFill>
              <a:srgbClr val="C4CED4"/>
            </a:solidFill>
            <a:prstDash val="solid"/>
            <a:tailEnd type="triangle"/>
          </a:ln>
        </p:spPr>
      </p:sp>
      <p:sp>
        <p:nvSpPr>
          <p:cNvPr id="59" name="Text 57"/>
          <p:cNvSpPr txBox="1"/>
          <p:nvPr/>
        </p:nvSpPr>
        <p:spPr>
          <a:xfrm>
            <a:off x="3108960" y="301752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intent selects which agents run</a:t>
            </a:r>
            <a:endParaRPr lang="en-US" sz="800" dirty="0"/>
          </a:p>
        </p:txBody>
      </p:sp>
      <p:sp>
        <p:nvSpPr>
          <p:cNvPr id="60" name="Text 58"/>
          <p:cNvSpPr txBox="1"/>
          <p:nvPr/>
        </p:nvSpPr>
        <p:spPr>
          <a:xfrm>
            <a:off x="365760" y="5138928"/>
            <a:ext cx="11521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41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SOURCES — 4 separate SQLite factor DBs (month = PRIMARY KEY), unified by a cross-DB view; joined to shared tables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365760" y="5349240"/>
            <a:ext cx="1280160" cy="640080"/>
          </a:xfrm>
          <a:prstGeom prst="can">
            <a:avLst/>
          </a:prstGeom>
          <a:solidFill>
            <a:srgbClr val="E7ECEF"/>
          </a:solidFill>
          <a:ln w="12700">
            <a:solidFill>
              <a:srgbClr val="041C2C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365760" y="5458968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41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lme.db
</a:t>
            </a:r>
            <a:pPr algn="ctr" indent="0" marL="0">
              <a:buNone/>
            </a:pPr>
            <a:r>
              <a:rPr lang="en-US" sz="750" dirty="0">
                <a:solidFill>
                  <a:srgbClr val="5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LME $/lb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1783080" y="5349240"/>
            <a:ext cx="1280160" cy="640080"/>
          </a:xfrm>
          <a:prstGeom prst="can">
            <a:avLst/>
          </a:prstGeom>
          <a:solidFill>
            <a:srgbClr val="E7ECEF"/>
          </a:solidFill>
          <a:ln w="12700">
            <a:solidFill>
              <a:srgbClr val="041C2C"/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1783080" y="5458968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41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midwest_premium.db
</a:t>
            </a:r>
            <a:pPr algn="ctr" indent="0" marL="0">
              <a:buNone/>
            </a:pPr>
            <a:r>
              <a:rPr lang="en-US" sz="750" dirty="0">
                <a:solidFill>
                  <a:srgbClr val="5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Premium $/lb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3200400" y="5349240"/>
            <a:ext cx="1280160" cy="640080"/>
          </a:xfrm>
          <a:prstGeom prst="can">
            <a:avLst/>
          </a:prstGeom>
          <a:solidFill>
            <a:srgbClr val="E7ECEF"/>
          </a:solidFill>
          <a:ln w="12700">
            <a:solidFill>
              <a:srgbClr val="041C2C"/>
            </a:solidFill>
            <a:prstDash val="solid"/>
          </a:ln>
        </p:spPr>
      </p:sp>
      <p:sp>
        <p:nvSpPr>
          <p:cNvPr id="66" name="Text 64"/>
          <p:cNvSpPr txBox="1"/>
          <p:nvPr/>
        </p:nvSpPr>
        <p:spPr>
          <a:xfrm>
            <a:off x="3200400" y="5458968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41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gas.db
</a:t>
            </a:r>
            <a:pPr algn="ctr" indent="0" marL="0">
              <a:buNone/>
            </a:pPr>
            <a:r>
              <a:rPr lang="en-US" sz="750" dirty="0">
                <a:solidFill>
                  <a:srgbClr val="5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CNG $/lb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4617720" y="5349240"/>
            <a:ext cx="1280160" cy="640080"/>
          </a:xfrm>
          <a:prstGeom prst="can">
            <a:avLst/>
          </a:prstGeom>
          <a:solidFill>
            <a:srgbClr val="E7ECEF"/>
          </a:solidFill>
          <a:ln w="12700">
            <a:solidFill>
              <a:srgbClr val="041C2C"/>
            </a:solidFill>
            <a:prstDash val="solid"/>
          </a:ln>
        </p:spPr>
      </p:sp>
      <p:sp>
        <p:nvSpPr>
          <p:cNvPr id="68" name="Text 66"/>
          <p:cNvSpPr txBox="1"/>
          <p:nvPr/>
        </p:nvSpPr>
        <p:spPr>
          <a:xfrm>
            <a:off x="4617720" y="5458968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41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labour.db
</a:t>
            </a:r>
            <a:pPr algn="ctr" indent="0" marL="0">
              <a:buNone/>
            </a:pPr>
            <a:r>
              <a:rPr lang="en-US" sz="750" dirty="0">
                <a:solidFill>
                  <a:srgbClr val="5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PPI index</a:t>
            </a:r>
            <a:endParaRPr lang="en-US" sz="850" dirty="0"/>
          </a:p>
        </p:txBody>
      </p:sp>
      <p:sp>
        <p:nvSpPr>
          <p:cNvPr id="69" name="Shape 67"/>
          <p:cNvSpPr/>
          <p:nvPr/>
        </p:nvSpPr>
        <p:spPr>
          <a:xfrm>
            <a:off x="6080760" y="5303520"/>
            <a:ext cx="1874520" cy="731520"/>
          </a:xfrm>
          <a:prstGeom prst="roundRect">
            <a:avLst>
              <a:gd name="adj" fmla="val 10000"/>
            </a:avLst>
          </a:prstGeom>
          <a:solidFill>
            <a:srgbClr val="FCE9EA"/>
          </a:solidFill>
          <a:ln w="12700">
            <a:solidFill>
              <a:srgbClr val="FF555F"/>
            </a:solidFill>
            <a:prstDash val="solid"/>
          </a:ln>
          <a:effectLst>
            <a:outerShdw sx="100000" sy="100000" kx="0" ky="0" algn="bl" rotWithShape="0" blurRad="50800" dist="25400" dir="5400000">
              <a:srgbClr val="B9C4CB">
                <a:alpha val="40000"/>
              </a:srgbClr>
            </a:outerShdw>
          </a:effectLst>
        </p:spPr>
      </p:sp>
      <p:sp>
        <p:nvSpPr>
          <p:cNvPr id="70" name="Text 68"/>
          <p:cNvSpPr txBox="1"/>
          <p:nvPr/>
        </p:nvSpPr>
        <p:spPr>
          <a:xfrm>
            <a:off x="6153912" y="5358384"/>
            <a:ext cx="1728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9B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 VIEW</a:t>
            </a:r>
            <a:endParaRPr lang="en-US" sz="950" dirty="0"/>
          </a:p>
        </p:txBody>
      </p:sp>
      <p:sp>
        <p:nvSpPr>
          <p:cNvPr id="71" name="Text 69"/>
          <p:cNvSpPr txBox="1"/>
          <p:nvPr/>
        </p:nvSpPr>
        <p:spPr>
          <a:xfrm>
            <a:off x="6153912" y="5577840"/>
            <a:ext cx="17282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800" dirty="0">
                <a:solidFill>
                  <a:srgbClr val="9B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monthly_values</a:t>
            </a:r>
            <a:endParaRPr lang="en-US" sz="8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800" dirty="0">
                <a:solidFill>
                  <a:srgbClr val="9B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(UNION ALL + factor_key)</a:t>
            </a: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8138160" y="5303520"/>
            <a:ext cx="3657600" cy="731520"/>
          </a:xfrm>
          <a:prstGeom prst="roundRect">
            <a:avLst>
              <a:gd name="adj" fmla="val 10000"/>
            </a:avLst>
          </a:prstGeom>
          <a:solidFill>
            <a:srgbClr val="F7F9FA"/>
          </a:solidFill>
          <a:ln w="12700">
            <a:solidFill>
              <a:srgbClr val="D5DCE1"/>
            </a:solidFill>
            <a:prstDash val="solid"/>
          </a:ln>
          <a:effectLst>
            <a:outerShdw sx="100000" sy="100000" kx="0" ky="0" algn="bl" rotWithShape="0" blurRad="50800" dist="25400" dir="5400000">
              <a:srgbClr val="B9C4CB">
                <a:alpha val="40000"/>
              </a:srgbClr>
            </a:outerShdw>
          </a:effectLst>
        </p:spPr>
      </p:sp>
      <p:sp>
        <p:nvSpPr>
          <p:cNvPr id="73" name="Text 71"/>
          <p:cNvSpPr txBox="1"/>
          <p:nvPr/>
        </p:nvSpPr>
        <p:spPr>
          <a:xfrm>
            <a:off x="8211312" y="5358384"/>
            <a:ext cx="3511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41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(master.db)</a:t>
            </a:r>
            <a:endParaRPr lang="en-US" sz="950" dirty="0"/>
          </a:p>
        </p:txBody>
      </p:sp>
      <p:sp>
        <p:nvSpPr>
          <p:cNvPr id="74" name="Text 72"/>
          <p:cNvSpPr txBox="1"/>
          <p:nvPr/>
        </p:nvSpPr>
        <p:spPr>
          <a:xfrm>
            <a:off x="8211312" y="5577840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800" dirty="0">
                <a:solidFill>
                  <a:srgbClr val="5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factors  ·  events ⋈ event_factors  ·  price_comparison (FRED/LME)</a:t>
            </a:r>
            <a:endParaRPr lang="en-US" sz="800" dirty="0"/>
          </a:p>
        </p:txBody>
      </p:sp>
      <p:sp>
        <p:nvSpPr>
          <p:cNvPr id="75" name="Shape 73"/>
          <p:cNvSpPr/>
          <p:nvPr/>
        </p:nvSpPr>
        <p:spPr>
          <a:xfrm>
            <a:off x="5577840" y="5623560"/>
            <a:ext cx="457200" cy="0"/>
          </a:xfrm>
          <a:prstGeom prst="line">
            <a:avLst/>
          </a:prstGeom>
          <a:noFill/>
          <a:ln w="20320">
            <a:solidFill>
              <a:srgbClr val="041C2C"/>
            </a:solidFill>
            <a:prstDash val="solid"/>
            <a:tailEnd type="triangle"/>
          </a:ln>
        </p:spPr>
      </p:sp>
      <p:sp>
        <p:nvSpPr>
          <p:cNvPr id="76" name="Shape 74"/>
          <p:cNvSpPr/>
          <p:nvPr/>
        </p:nvSpPr>
        <p:spPr>
          <a:xfrm>
            <a:off x="6995160" y="5303520"/>
            <a:ext cx="0" cy="-228600"/>
          </a:xfrm>
          <a:prstGeom prst="line">
            <a:avLst/>
          </a:prstGeom>
          <a:noFill/>
          <a:ln w="20320">
            <a:solidFill>
              <a:srgbClr val="041C2C"/>
            </a:solidFill>
            <a:prstDash val="solid"/>
            <a:tailEnd type="triangle"/>
          </a:ln>
        </p:spPr>
      </p:sp>
      <p:sp>
        <p:nvSpPr>
          <p:cNvPr id="77" name="Text 75"/>
          <p:cNvSpPr txBox="1"/>
          <p:nvPr/>
        </p:nvSpPr>
        <p:spPr>
          <a:xfrm>
            <a:off x="8138160" y="580644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 + shared tables feed the SQL agent ↑</a:t>
            </a:r>
            <a:endParaRPr lang="en-US" sz="800" dirty="0"/>
          </a:p>
        </p:txBody>
      </p:sp>
      <p:sp>
        <p:nvSpPr>
          <p:cNvPr id="78" name="Shape 76"/>
          <p:cNvSpPr/>
          <p:nvPr/>
        </p:nvSpPr>
        <p:spPr>
          <a:xfrm>
            <a:off x="9326880" y="3685032"/>
            <a:ext cx="2487168" cy="18288"/>
          </a:xfrm>
          <a:prstGeom prst="roundRect">
            <a:avLst>
              <a:gd name="adj" fmla="val 400000"/>
            </a:avLst>
          </a:prstGeom>
          <a:solidFill>
            <a:srgbClr val="FFFFFF"/>
          </a:solidFill>
          <a:ln w="12700">
            <a:solidFill>
              <a:srgbClr val="D5DCE1"/>
            </a:solidFill>
            <a:prstDash val="solid"/>
          </a:ln>
          <a:effectLst>
            <a:outerShdw sx="100000" sy="100000" kx="0" ky="0" algn="bl" rotWithShape="0" blurRad="50800" dist="25400" dir="5400000">
              <a:srgbClr val="B9C4CB">
                <a:alpha val="40000"/>
              </a:srgbClr>
            </a:outerShdw>
          </a:effectLst>
        </p:spPr>
      </p:sp>
      <p:sp>
        <p:nvSpPr>
          <p:cNvPr id="79" name="Shape 77"/>
          <p:cNvSpPr/>
          <p:nvPr/>
        </p:nvSpPr>
        <p:spPr>
          <a:xfrm>
            <a:off x="8686800" y="2395728"/>
            <a:ext cx="3108960" cy="731520"/>
          </a:xfrm>
          <a:prstGeom prst="roundRect">
            <a:avLst>
              <a:gd name="adj" fmla="val 10000"/>
            </a:avLst>
          </a:prstGeom>
          <a:solidFill>
            <a:srgbClr val="F1ECFB"/>
          </a:solidFill>
          <a:ln w="12700">
            <a:solidFill>
              <a:srgbClr val="6D28D9"/>
            </a:solidFill>
            <a:prstDash val="solid"/>
          </a:ln>
          <a:effectLst>
            <a:outerShdw sx="100000" sy="100000" kx="0" ky="0" algn="bl" rotWithShape="0" blurRad="50800" dist="25400" dir="5400000">
              <a:srgbClr val="B9C4CB">
                <a:alpha val="40000"/>
              </a:srgbClr>
            </a:outerShdw>
          </a:effectLst>
        </p:spPr>
      </p:sp>
      <p:sp>
        <p:nvSpPr>
          <p:cNvPr id="80" name="Text 78"/>
          <p:cNvSpPr txBox="1"/>
          <p:nvPr/>
        </p:nvSpPr>
        <p:spPr>
          <a:xfrm>
            <a:off x="8759952" y="2450592"/>
            <a:ext cx="2962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FORECAST ENGINES (separate API)</a:t>
            </a:r>
            <a:endParaRPr lang="en-US" sz="950" dirty="0"/>
          </a:p>
        </p:txBody>
      </p:sp>
      <p:sp>
        <p:nvSpPr>
          <p:cNvPr id="81" name="Text 79"/>
          <p:cNvSpPr txBox="1"/>
          <p:nvPr/>
        </p:nvSpPr>
        <p:spPr>
          <a:xfrm>
            <a:off x="8759952" y="2670048"/>
            <a:ext cx="29626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800" dirty="0">
                <a:solidFill>
                  <a:srgbClr val="4C1D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Calculative (quarterly formula) + ML (best_price_model.pkl) on the Forecast tab.</a:t>
            </a:r>
            <a:endParaRPr lang="en-US" sz="800" dirty="0"/>
          </a:p>
        </p:txBody>
      </p:sp>
      <p:sp>
        <p:nvSpPr>
          <p:cNvPr id="82" name="Shape 80"/>
          <p:cNvSpPr/>
          <p:nvPr/>
        </p:nvSpPr>
        <p:spPr>
          <a:xfrm>
            <a:off x="9326880" y="2468880"/>
            <a:ext cx="0" cy="-73152"/>
          </a:xfrm>
          <a:prstGeom prst="line">
            <a:avLst/>
          </a:prstGeom>
          <a:noFill/>
          <a:ln w="17780">
            <a:solidFill>
              <a:srgbClr val="6D28D9"/>
            </a:solidFill>
            <a:prstDash val="dash"/>
            <a:tailEnd type="triangle"/>
          </a:ln>
        </p:spPr>
      </p:sp>
      <p:sp>
        <p:nvSpPr>
          <p:cNvPr id="83" name="Text 81"/>
          <p:cNvSpPr txBox="1"/>
          <p:nvPr/>
        </p:nvSpPr>
        <p:spPr>
          <a:xfrm>
            <a:off x="8732520" y="1828800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prediction intent → “use the Forecast tab” + web outlook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2026-09-02T10:05:39Z</dcterms:created>
  <dcterms:modified xsi:type="dcterms:W3CDTF">2026-09-02T10:05:39Z</dcterms:modified>
</cp:coreProperties>
</file>